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9" r:id="rId4"/>
    <p:sldId id="263" r:id="rId5"/>
    <p:sldId id="281" r:id="rId6"/>
    <p:sldId id="282" r:id="rId7"/>
    <p:sldId id="275" r:id="rId8"/>
    <p:sldId id="274" r:id="rId9"/>
    <p:sldId id="273" r:id="rId10"/>
    <p:sldId id="276" r:id="rId11"/>
    <p:sldId id="283" r:id="rId12"/>
    <p:sldId id="272" r:id="rId13"/>
    <p:sldId id="278" r:id="rId14"/>
    <p:sldId id="277" r:id="rId15"/>
    <p:sldId id="270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3"/>
    <p:restoredTop sz="86104"/>
  </p:normalViewPr>
  <p:slideViewPr>
    <p:cSldViewPr snapToGrid="0">
      <p:cViewPr varScale="1">
        <p:scale>
          <a:sx n="112" d="100"/>
          <a:sy n="112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" name="Shape 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a scenario with autonomous vehicle systems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Explain how the PSNR metric works</a:t>
            </a:r>
          </a:p>
        </p:txBody>
      </p:sp>
    </p:spTree>
    <p:extLst>
      <p:ext uri="{BB962C8B-B14F-4D97-AF65-F5344CB8AC3E}">
        <p14:creationId xmlns:p14="http://schemas.microsoft.com/office/powerpoint/2010/main" val="662374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Emphasize on the importance of layered defense here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6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why focus is on defending against white-box attacks here than black-box attacks</a:t>
            </a:r>
          </a:p>
          <a:p>
            <a:pPr marL="171450" indent="-171450">
              <a:buFontTx/>
              <a:buChar char="-"/>
            </a:pPr>
            <a:r>
              <a:rPr lang="en-US" dirty="0"/>
              <a:t>Justify the use of CIFAR-10 here</a:t>
            </a:r>
          </a:p>
        </p:txBody>
      </p:sp>
    </p:spTree>
    <p:extLst>
      <p:ext uri="{BB962C8B-B14F-4D97-AF65-F5344CB8AC3E}">
        <p14:creationId xmlns:p14="http://schemas.microsoft.com/office/powerpoint/2010/main" val="1664408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800D-DA33-69F4-5590-F9BDDC2F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6E02A-8E4A-2A05-A7AD-7F002BCB8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DF1AC-98FE-007F-D002-9BCD42C0C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why PGD is used over other adversarial attacks (like FGSM) here</a:t>
            </a:r>
          </a:p>
        </p:txBody>
      </p:sp>
    </p:spTree>
    <p:extLst>
      <p:ext uri="{BB962C8B-B14F-4D97-AF65-F5344CB8AC3E}">
        <p14:creationId xmlns:p14="http://schemas.microsoft.com/office/powerpoint/2010/main" val="1955219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Explain rationale for ResNet-18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13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8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single-step vs ensemble purification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EMA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Forward + backward pass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447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Accuracy-robustness tradeoff</a:t>
            </a:r>
          </a:p>
          <a:p>
            <a:pPr marL="171450" indent="-171450">
              <a:buFontTx/>
              <a:buChar char="-"/>
            </a:pPr>
            <a:r>
              <a:rPr lang="en-US" dirty="0"/>
              <a:t>MART and AWP in detail</a:t>
            </a:r>
          </a:p>
        </p:txBody>
      </p:sp>
    </p:spTree>
    <p:extLst>
      <p:ext uri="{BB962C8B-B14F-4D97-AF65-F5344CB8AC3E}">
        <p14:creationId xmlns:p14="http://schemas.microsoft.com/office/powerpoint/2010/main" val="938918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Ensemble purification captures both fine and coarse purification levels.</a:t>
            </a:r>
          </a:p>
        </p:txBody>
      </p:sp>
    </p:spTree>
    <p:extLst>
      <p:ext uri="{BB962C8B-B14F-4D97-AF65-F5344CB8AC3E}">
        <p14:creationId xmlns:p14="http://schemas.microsoft.com/office/powerpoint/2010/main" val="982741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Look into diffusion backbone alternatives that could potentially be faster and why they haven’t been explored yet</a:t>
            </a:r>
          </a:p>
        </p:txBody>
      </p:sp>
    </p:spTree>
    <p:extLst>
      <p:ext uri="{BB962C8B-B14F-4D97-AF65-F5344CB8AC3E}">
        <p14:creationId xmlns:p14="http://schemas.microsoft.com/office/powerpoint/2010/main" val="423191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54;p13"/>
          <p:cNvSpPr/>
          <p:nvPr/>
        </p:nvSpPr>
        <p:spPr>
          <a:xfrm>
            <a:off x="357900" y="569000"/>
            <a:ext cx="11476202" cy="1368301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 w="12700">
            <a:miter lim="400000"/>
          </a:ln>
          <a:effectLst>
            <a:outerShdw blurRad="63500" dist="114300" dir="2700000" rotWithShape="0">
              <a:srgbClr val="000000">
                <a:alpha val="30000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4" name="Google Shape;56;p13"/>
          <p:cNvSpPr txBox="1"/>
          <p:nvPr/>
        </p:nvSpPr>
        <p:spPr>
          <a:xfrm>
            <a:off x="492033" y="718401"/>
            <a:ext cx="11207933" cy="53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t> </a:t>
            </a:r>
          </a:p>
        </p:txBody>
      </p:sp>
      <p:pic>
        <p:nvPicPr>
          <p:cNvPr id="15" name="Google Shape;55;p13" descr="Google Shape;55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0" y="5905896"/>
            <a:ext cx="11476199" cy="76620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496388" y="1018903"/>
            <a:ext cx="11364686" cy="4673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" name="Google Shape;64;p14" descr="Google Shape;64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88" y="5734594"/>
            <a:ext cx="11364687" cy="8436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oogle Shape;63;p14"/>
          <p:cNvSpPr/>
          <p:nvPr/>
        </p:nvSpPr>
        <p:spPr>
          <a:xfrm>
            <a:off x="74" y="-28227"/>
            <a:ext cx="12191925" cy="800218"/>
          </a:xfrm>
          <a:prstGeom prst="rect">
            <a:avLst/>
          </a:prstGeom>
          <a:solidFill>
            <a:srgbClr val="33529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1826683" y="1371600"/>
            <a:ext cx="9753601" cy="465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r>
              <a:t>Title Text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38" marR="0" indent="-320038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sser/pytorch_diffus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58;p13"/>
          <p:cNvSpPr txBox="1"/>
          <p:nvPr/>
        </p:nvSpPr>
        <p:spPr>
          <a:xfrm>
            <a:off x="3150499" y="4256609"/>
            <a:ext cx="5917503" cy="752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lnSpc>
                <a:spcPct val="115000"/>
              </a:lnSpc>
            </a:pPr>
            <a:r>
              <a:t>Dr. Dhivya S</a:t>
            </a:r>
          </a:p>
          <a:p>
            <a:pPr algn="ctr"/>
            <a:r>
              <a:t>Shiv Nadar University Chennai</a:t>
            </a:r>
          </a:p>
        </p:txBody>
      </p:sp>
      <p:sp>
        <p:nvSpPr>
          <p:cNvPr id="34" name="Google Shape;57;p13"/>
          <p:cNvSpPr txBox="1"/>
          <p:nvPr/>
        </p:nvSpPr>
        <p:spPr>
          <a:xfrm>
            <a:off x="3150499" y="2825220"/>
            <a:ext cx="5917503" cy="832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/>
          <a:p>
            <a:pPr algn="ctr">
              <a:defRPr sz="2200"/>
            </a:pPr>
            <a:r>
              <a:t>Harish Senthilkumaran Dharani - 22011103017</a:t>
            </a:r>
          </a:p>
          <a:p>
            <a:pPr algn="ctr">
              <a:defRPr sz="2200"/>
            </a:pPr>
            <a:r>
              <a:t>M K Lokesh Kumar - 22011103026</a:t>
            </a:r>
          </a:p>
        </p:txBody>
      </p:sp>
      <p:sp>
        <p:nvSpPr>
          <p:cNvPr id="35" name="Google Shape;56;p13"/>
          <p:cNvSpPr txBox="1"/>
          <p:nvPr/>
        </p:nvSpPr>
        <p:spPr>
          <a:xfrm>
            <a:off x="569841" y="776886"/>
            <a:ext cx="11052316" cy="100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IN" sz="2400" i="1" dirty="0"/>
              <a:t>Adversarial Attack Detection and Mitigation Framework for Deep Learning Models</a:t>
            </a:r>
          </a:p>
          <a:p>
            <a:r>
              <a:rPr lang="en-IN" sz="2400" i="1" dirty="0"/>
              <a:t>Capstone Project Review – Phase 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703E18-ABFC-B3AB-F0F5-03970F1B1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Deep learning models achieve high accuracy but are vulnerable to adversarial perturbations – small, human-imperceptible noise that causes misclassification.</a:t>
            </a:r>
          </a:p>
          <a:p>
            <a:r>
              <a:rPr lang="en-US" sz="1800" dirty="0"/>
              <a:t>Such vulnerabilities can be exploited in autonomous systems, medical imaging, and security-critical applications.</a:t>
            </a:r>
          </a:p>
          <a:p>
            <a:r>
              <a:rPr lang="en-US" sz="1800" dirty="0"/>
              <a:t>AIM: To develop a robust framework capable of detecting and mitigating adversarial attacks.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16818-507F-375D-AEF6-E490E5FA0C9B}"/>
              </a:ext>
            </a:extLst>
          </p:cNvPr>
          <p:cNvSpPr txBox="1"/>
          <p:nvPr/>
        </p:nvSpPr>
        <p:spPr>
          <a:xfrm>
            <a:off x="3691307" y="164122"/>
            <a:ext cx="4974848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PROBLEM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D5167-3A5E-EEF7-B63C-7DA76CD96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750" y="2962095"/>
            <a:ext cx="5016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8889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0B33-1356-BD06-4B50-174EA7EA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3E94BA-FB1D-87E0-7B6E-53E93B7DB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Design a </a:t>
            </a:r>
            <a:r>
              <a:rPr lang="en-US" sz="1800" b="1" dirty="0"/>
              <a:t>detection model </a:t>
            </a:r>
            <a:r>
              <a:rPr lang="en-US" sz="1800" dirty="0"/>
              <a:t>to distinguish clean and adversarial samples.</a:t>
            </a:r>
          </a:p>
          <a:p>
            <a:r>
              <a:rPr lang="en-US" sz="1800" dirty="0"/>
              <a:t>Implement a </a:t>
            </a:r>
            <a:r>
              <a:rPr lang="en-US" sz="1800" b="1" dirty="0"/>
              <a:t>diffusion-based purification module </a:t>
            </a:r>
            <a:r>
              <a:rPr lang="en-US" sz="1800" dirty="0"/>
              <a:t>to remove adversarial perturbations.</a:t>
            </a:r>
          </a:p>
          <a:p>
            <a:r>
              <a:rPr lang="en-US" sz="1800" dirty="0"/>
              <a:t>Employ a robust </a:t>
            </a:r>
            <a:r>
              <a:rPr lang="en-US" sz="1800" b="1" dirty="0"/>
              <a:t>ResNet-18 mitigation model </a:t>
            </a:r>
            <a:r>
              <a:rPr lang="en-US" sz="1800" dirty="0"/>
              <a:t>trained using MART + AWP for improved resilience.</a:t>
            </a:r>
          </a:p>
          <a:p>
            <a:r>
              <a:rPr lang="en-US" sz="1800" dirty="0"/>
              <a:t>Integrate all three into a unified pipeline that ensures high performance on both clean and adversarial samples.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5231F-70AB-F5A8-6728-95505045A02C}"/>
              </a:ext>
            </a:extLst>
          </p:cNvPr>
          <p:cNvSpPr txBox="1"/>
          <p:nvPr/>
        </p:nvSpPr>
        <p:spPr>
          <a:xfrm>
            <a:off x="3691307" y="164122"/>
            <a:ext cx="4974848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4916560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9"/>
          <p:cNvSpPr txBox="1"/>
          <p:nvPr/>
        </p:nvSpPr>
        <p:spPr>
          <a:xfrm>
            <a:off x="3091860" y="46150"/>
            <a:ext cx="6008280" cy="48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115000"/>
              </a:lnSpc>
              <a:defRPr>
                <a:solidFill>
                  <a:srgbClr val="FFFFFF"/>
                </a:solidFill>
              </a:defRPr>
            </a:lvl1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ARCHITECTURE OVERVIEW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094D9299-7882-879E-20F4-F50594910513}"/>
              </a:ext>
            </a:extLst>
          </p:cNvPr>
          <p:cNvSpPr txBox="1"/>
          <p:nvPr/>
        </p:nvSpPr>
        <p:spPr>
          <a:xfrm>
            <a:off x="2164180" y="0"/>
            <a:ext cx="7319789" cy="65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23" tIns="91423" rIns="91423" bIns="91423">
            <a:spAutoFit/>
          </a:bodyPr>
          <a:lstStyle>
            <a:lvl1pPr algn="ctr">
              <a:lnSpc>
                <a:spcPct val="115000"/>
              </a:lnSpc>
              <a:defRPr sz="2800">
                <a:solidFill>
                  <a:srgbClr val="FFFFFF"/>
                </a:solidFill>
              </a:defRPr>
            </a:lvl1pPr>
          </a:lstStyle>
          <a:p>
            <a:endParaRPr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7A6653-EF2E-A2B9-7A4E-2E793AD7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" y="983380"/>
            <a:ext cx="11996764" cy="489123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D7DE-5586-CBB3-C288-DAB93F491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C941DB-DCF2-1A77-A357-9FF9BFA3B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Dataset</a:t>
            </a:r>
          </a:p>
          <a:p>
            <a:pPr lvl="1"/>
            <a:r>
              <a:rPr lang="en-US" sz="1800" dirty="0"/>
              <a:t>CIFAR-10 (60,000 32 x 32 RGB images, 10 classes)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Purpose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Evaluate robustness of framework under white-box attacks.</a:t>
            </a:r>
            <a:endParaRPr lang="en-US" sz="1800" dirty="0"/>
          </a:p>
          <a:p>
            <a:r>
              <a:rPr lang="en-US" sz="1800" dirty="0"/>
              <a:t>Attack used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800" dirty="0"/>
              <a:t>PGD (Projected Gradient Descent) – </a:t>
            </a:r>
            <a:r>
              <a:rPr lang="el-GR" sz="1800" dirty="0"/>
              <a:t>ε = 8/255, </a:t>
            </a:r>
            <a:r>
              <a:rPr lang="en-IN" sz="1800" dirty="0"/>
              <a:t>steps =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C39BE-81BC-770D-AB56-2FB934B62CF9}"/>
              </a:ext>
            </a:extLst>
          </p:cNvPr>
          <p:cNvSpPr txBox="1"/>
          <p:nvPr/>
        </p:nvSpPr>
        <p:spPr>
          <a:xfrm>
            <a:off x="2448722" y="110837"/>
            <a:ext cx="7294555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DATASET AND ATTACK SCENARIOS</a:t>
            </a:r>
          </a:p>
        </p:txBody>
      </p:sp>
    </p:spTree>
    <p:extLst>
      <p:ext uri="{BB962C8B-B14F-4D97-AF65-F5344CB8AC3E}">
        <p14:creationId xmlns:p14="http://schemas.microsoft.com/office/powerpoint/2010/main" val="54572546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B757-E854-61D2-C65C-A16B31A2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62486-5954-E10A-896B-6F176DBFC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Iterative, white-box attack – has full knowledge of the model parameters and gradients.</a:t>
            </a:r>
          </a:p>
          <a:p>
            <a:r>
              <a:rPr lang="en-US" sz="1800" dirty="0"/>
              <a:t>Repeatedly adjusts pixel values in the same direction as the gradient of the loss to increase the likelihood of misclassification.</a:t>
            </a:r>
          </a:p>
          <a:p>
            <a:r>
              <a:rPr lang="en-US" sz="1800" dirty="0"/>
              <a:t>Each small step modifies the image just enough to confuse the model while remaining imperceptible to the human eye.</a:t>
            </a:r>
          </a:p>
          <a:p>
            <a:r>
              <a:rPr lang="en-US" sz="1800" dirty="0"/>
              <a:t>Keeps total perturbation with a small bound so that the attack remains subtle.</a:t>
            </a:r>
          </a:p>
          <a:p>
            <a:r>
              <a:rPr lang="en-US" sz="1800" dirty="0"/>
              <a:t>Effectiveness</a:t>
            </a:r>
          </a:p>
          <a:p>
            <a:pPr lvl="1"/>
            <a:r>
              <a:rPr lang="en-US" sz="1800" dirty="0"/>
              <a:t>Stronger than one-step attacks like FGSM.</a:t>
            </a:r>
          </a:p>
          <a:p>
            <a:r>
              <a:rPr lang="en-US" sz="1800" dirty="0"/>
              <a:t>Parameters used</a:t>
            </a:r>
          </a:p>
          <a:p>
            <a:pPr lvl="1"/>
            <a:r>
              <a:rPr lang="en-US" sz="1800" dirty="0"/>
              <a:t>Perturbation limit (</a:t>
            </a:r>
            <a:r>
              <a:rPr lang="en-US" sz="1800" dirty="0" err="1"/>
              <a:t>ε</a:t>
            </a:r>
            <a:r>
              <a:rPr lang="en-IN" sz="1800" dirty="0"/>
              <a:t>): 8/255</a:t>
            </a:r>
          </a:p>
          <a:p>
            <a:pPr lvl="1"/>
            <a:r>
              <a:rPr lang="en-IN" sz="1800" dirty="0"/>
              <a:t>Steps: 10 iterations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35E5A-A343-83DB-8AED-103EE4C94644}"/>
              </a:ext>
            </a:extLst>
          </p:cNvPr>
          <p:cNvSpPr txBox="1"/>
          <p:nvPr/>
        </p:nvSpPr>
        <p:spPr>
          <a:xfrm>
            <a:off x="2344501" y="160020"/>
            <a:ext cx="7502997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PROJECTED GRADIENT DESCENT (PGD) ATTACK	</a:t>
            </a:r>
          </a:p>
        </p:txBody>
      </p:sp>
    </p:spTree>
    <p:extLst>
      <p:ext uri="{BB962C8B-B14F-4D97-AF65-F5344CB8AC3E}">
        <p14:creationId xmlns:p14="http://schemas.microsoft.com/office/powerpoint/2010/main" val="31520558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7613-CFF7-5A59-D9E5-4EA39389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3C740F-0626-7B9B-C55C-4A6F9ECC2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600" b="1" dirty="0"/>
              <a:t>Input Layer: </a:t>
            </a:r>
            <a:r>
              <a:rPr lang="en-US" sz="1600" dirty="0"/>
              <a:t>3 x 32 x 32 </a:t>
            </a:r>
            <a:r>
              <a:rPr lang="en-US" sz="1600" dirty="0" err="1"/>
              <a:t>Colour</a:t>
            </a:r>
            <a:r>
              <a:rPr lang="en-US" sz="1600" dirty="0"/>
              <a:t> Images</a:t>
            </a:r>
          </a:p>
          <a:p>
            <a:r>
              <a:rPr lang="en-US" sz="1600" b="1" dirty="0"/>
              <a:t>Initial Convolutional Layer: </a:t>
            </a:r>
            <a:r>
              <a:rPr lang="en-US" sz="1600" dirty="0"/>
              <a:t>3 channel -&gt; 64 channel with a Stride = 1 + Batch Normalization + </a:t>
            </a:r>
            <a:r>
              <a:rPr lang="en-US" sz="1600" dirty="0" err="1"/>
              <a:t>ReLU</a:t>
            </a:r>
            <a:endParaRPr lang="en-US" sz="1600" dirty="0"/>
          </a:p>
          <a:p>
            <a:r>
              <a:rPr lang="en-US" sz="1600" b="1" dirty="0"/>
              <a:t>Residual Stage 1: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64 channels -&gt; 64 channels and Uses Skip Connections</a:t>
            </a:r>
          </a:p>
          <a:p>
            <a:r>
              <a:rPr lang="en-US" sz="1600" b="1" dirty="0"/>
              <a:t>Residual Stage 2: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64 channels -&gt; 128 channels and Stride = 2</a:t>
            </a:r>
          </a:p>
          <a:p>
            <a:r>
              <a:rPr lang="en-US" sz="1600" b="1" dirty="0"/>
              <a:t>Residual Stage 3: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128 channels -&gt; 256 channels and Stride = 2</a:t>
            </a:r>
          </a:p>
          <a:p>
            <a:r>
              <a:rPr lang="en-US" sz="1600" b="1" dirty="0"/>
              <a:t>Residual Stage 4: </a:t>
            </a:r>
            <a:r>
              <a:rPr lang="en-US" sz="1600" dirty="0"/>
              <a:t>2 </a:t>
            </a:r>
            <a:r>
              <a:rPr lang="en-US" sz="1600" dirty="0" err="1"/>
              <a:t>BasicBlocks</a:t>
            </a:r>
            <a:endParaRPr lang="en-US" sz="1600" dirty="0"/>
          </a:p>
          <a:p>
            <a:pPr lvl="1"/>
            <a:r>
              <a:rPr lang="en-US" sz="1600" dirty="0"/>
              <a:t>256 channels -&gt; 512 channels and Stride = 2</a:t>
            </a:r>
          </a:p>
          <a:p>
            <a:r>
              <a:rPr lang="en-US" sz="1600" b="1" dirty="0"/>
              <a:t>Pooling: </a:t>
            </a:r>
            <a:r>
              <a:rPr lang="en-IN" sz="1600" dirty="0"/>
              <a:t>Averages each 4x4 feature map down to a single 1x1 value</a:t>
            </a:r>
            <a:endParaRPr lang="en-US" sz="1600" b="1" dirty="0"/>
          </a:p>
          <a:p>
            <a:r>
              <a:rPr lang="en-US" sz="1600" b="1" dirty="0"/>
              <a:t>Flattening Layer</a:t>
            </a:r>
          </a:p>
          <a:p>
            <a:r>
              <a:rPr lang="en-US" sz="1600" b="1" dirty="0"/>
              <a:t>Final Layer</a:t>
            </a:r>
          </a:p>
          <a:p>
            <a:pPr lvl="1"/>
            <a:r>
              <a:rPr lang="en-IN" sz="1600" dirty="0"/>
              <a:t>Baseline/Mitigation – 10 Output Neurons</a:t>
            </a:r>
          </a:p>
          <a:p>
            <a:pPr lvl="1"/>
            <a:r>
              <a:rPr lang="en-IN" sz="1600" dirty="0"/>
              <a:t>Detection – 2 Output Neurons</a:t>
            </a:r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F1C91-C3B8-5118-AEE3-BFE43171EADA}"/>
              </a:ext>
            </a:extLst>
          </p:cNvPr>
          <p:cNvSpPr txBox="1"/>
          <p:nvPr/>
        </p:nvSpPr>
        <p:spPr>
          <a:xfrm flipH="1">
            <a:off x="2484595" y="122037"/>
            <a:ext cx="7222809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ResNet-18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15870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B7DA06-A983-D0B6-0D43-BA0545DAC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Based on </a:t>
            </a:r>
            <a:r>
              <a:rPr lang="en-US" sz="1800" b="1" dirty="0"/>
              <a:t>ResNet-18</a:t>
            </a:r>
            <a:r>
              <a:rPr lang="en-US" sz="1800" dirty="0"/>
              <a:t> architecture trained on CIFAR-10.</a:t>
            </a:r>
          </a:p>
          <a:p>
            <a:r>
              <a:rPr lang="en-US" sz="1800" dirty="0"/>
              <a:t>Binary classifier trained on </a:t>
            </a:r>
            <a:r>
              <a:rPr lang="en-US" sz="1800" b="1" dirty="0"/>
              <a:t>equal mix </a:t>
            </a:r>
            <a:r>
              <a:rPr lang="en-US" sz="1800" dirty="0"/>
              <a:t>of clean and adversarial images.</a:t>
            </a:r>
          </a:p>
          <a:p>
            <a:r>
              <a:rPr lang="en-US" sz="1800" dirty="0"/>
              <a:t>Optimized using </a:t>
            </a:r>
            <a:r>
              <a:rPr lang="en-US" sz="1800" b="1" dirty="0"/>
              <a:t>Binary Cross-Entropy Loss</a:t>
            </a:r>
            <a:r>
              <a:rPr lang="en-US" sz="1800" dirty="0"/>
              <a:t>.</a:t>
            </a:r>
          </a:p>
          <a:p>
            <a:r>
              <a:rPr lang="en-US" sz="1800" dirty="0"/>
              <a:t>Output layer: 2 neurons corresponding to either “clean” or “adversarial”.</a:t>
            </a:r>
          </a:p>
          <a:p>
            <a:r>
              <a:rPr lang="en-US" sz="1800" dirty="0"/>
              <a:t>Performance metrics:</a:t>
            </a:r>
          </a:p>
          <a:p>
            <a:pPr lvl="1"/>
            <a:r>
              <a:rPr lang="en-US" sz="1800" dirty="0"/>
              <a:t>Accuracy: 97%</a:t>
            </a:r>
          </a:p>
          <a:p>
            <a:r>
              <a:rPr lang="en-US" sz="1800" dirty="0"/>
              <a:t>Effectively filters adversarial inputs before they reach the classifier.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33F2F-9971-34C3-B754-FB67BC17F6B8}"/>
              </a:ext>
            </a:extLst>
          </p:cNvPr>
          <p:cNvSpPr txBox="1"/>
          <p:nvPr/>
        </p:nvSpPr>
        <p:spPr>
          <a:xfrm>
            <a:off x="4653798" y="140677"/>
            <a:ext cx="3049870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DETECTION MODEL</a:t>
            </a:r>
          </a:p>
        </p:txBody>
      </p:sp>
    </p:spTree>
    <p:extLst>
      <p:ext uri="{BB962C8B-B14F-4D97-AF65-F5344CB8AC3E}">
        <p14:creationId xmlns:p14="http://schemas.microsoft.com/office/powerpoint/2010/main" val="16890937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D93900-A2E6-03DF-9AF1-A2BF1D6FC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Built using </a:t>
            </a:r>
            <a:r>
              <a:rPr lang="en-US" sz="1800" b="1" dirty="0"/>
              <a:t>Denoising Diffusion Probabilistic Model (DDPM) </a:t>
            </a:r>
            <a:r>
              <a:rPr lang="en-US" sz="1800" dirty="0"/>
              <a:t>trained on CIFAR-10.</a:t>
            </a:r>
          </a:p>
          <a:p>
            <a:r>
              <a:rPr lang="en-US" sz="1800" b="1" dirty="0"/>
              <a:t>Forward Process</a:t>
            </a:r>
            <a:r>
              <a:rPr lang="en-US" sz="1800" dirty="0"/>
              <a:t>: Gradually adds Gaussian noise and converts adversarial noise to random noise.</a:t>
            </a:r>
          </a:p>
          <a:p>
            <a:r>
              <a:rPr lang="en-US" sz="1800" b="1" dirty="0"/>
              <a:t>Reverse Process: </a:t>
            </a:r>
            <a:r>
              <a:rPr lang="en-US" sz="1800" dirty="0"/>
              <a:t>Denoises step-by-step and reconstructs clean image.</a:t>
            </a:r>
          </a:p>
          <a:p>
            <a:r>
              <a:rPr lang="en-US" sz="1800" b="1" dirty="0"/>
              <a:t>Exponential Moving Average (EMA) </a:t>
            </a:r>
            <a:r>
              <a:rPr lang="en-US" sz="1800" dirty="0"/>
              <a:t>weights stabilize image generation.</a:t>
            </a:r>
          </a:p>
          <a:p>
            <a:r>
              <a:rPr lang="en-US" sz="1800" dirty="0"/>
              <a:t>Controlled using </a:t>
            </a:r>
            <a:r>
              <a:rPr lang="en-US" sz="1800" b="1" dirty="0"/>
              <a:t>Purification Timestep (t) </a:t>
            </a:r>
            <a:r>
              <a:rPr lang="en-US" sz="1800" dirty="0"/>
              <a:t>– higher t = stronger cleaning, lower detail.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C2FF1-FDED-84E6-1308-91D4A27DBFEE}"/>
              </a:ext>
            </a:extLst>
          </p:cNvPr>
          <p:cNvSpPr txBox="1"/>
          <p:nvPr/>
        </p:nvSpPr>
        <p:spPr>
          <a:xfrm flipH="1">
            <a:off x="2484595" y="122037"/>
            <a:ext cx="7222809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DIFFUSION-BASED PURIFICATION</a:t>
            </a:r>
          </a:p>
        </p:txBody>
      </p:sp>
      <p:pic>
        <p:nvPicPr>
          <p:cNvPr id="5" name="Picture 4" descr="A close up of a cat&#10;&#10;AI-generated content may be incorrect.">
            <a:extLst>
              <a:ext uri="{FF2B5EF4-FFF2-40B4-BE49-F238E27FC236}">
                <a16:creationId xmlns:a16="http://schemas.microsoft.com/office/drawing/2014/main" id="{D7B028F5-9ECC-4B44-A162-1AC9F5872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858" y="4117599"/>
            <a:ext cx="4656283" cy="20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9846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CDD6-C337-10E5-262E-937E64FE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7116C-DDC2-8498-FCEF-5CB165DD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Based on ResNet-18 architecture trained on CIFAR-10.</a:t>
            </a:r>
          </a:p>
          <a:p>
            <a:r>
              <a:rPr lang="en-US" sz="1800" dirty="0"/>
              <a:t>Uses </a:t>
            </a:r>
            <a:r>
              <a:rPr lang="en-US" sz="1800" b="1" dirty="0"/>
              <a:t>MART (Misclassification Aware </a:t>
            </a:r>
            <a:r>
              <a:rPr lang="en-US" sz="1800" b="1" dirty="0" err="1"/>
              <a:t>aDversarial</a:t>
            </a:r>
            <a:r>
              <a:rPr lang="en-US" sz="1800" b="1" dirty="0"/>
              <a:t> Training)</a:t>
            </a:r>
            <a:r>
              <a:rPr lang="en-US" sz="1800" dirty="0"/>
              <a:t> combined with </a:t>
            </a:r>
            <a:r>
              <a:rPr lang="en-US" sz="1800" b="1" dirty="0"/>
              <a:t>AWP (Adversarial Weight Perturbation) </a:t>
            </a:r>
            <a:r>
              <a:rPr lang="en-US" sz="1800" dirty="0"/>
              <a:t>for enhanced robustness.</a:t>
            </a:r>
          </a:p>
          <a:p>
            <a:r>
              <a:rPr lang="en-US" sz="1800" dirty="0"/>
              <a:t>MART focuses on difficult (near-boundary) samples, improving defense against adaptive attacks.</a:t>
            </a:r>
          </a:p>
          <a:p>
            <a:r>
              <a:rPr lang="en-US" sz="1800" dirty="0"/>
              <a:t>AWP regularizes model weights by introducing small perturbations in weight space to </a:t>
            </a:r>
            <a:r>
              <a:rPr lang="en-US" sz="1800" b="1" dirty="0"/>
              <a:t>prevent overfitting</a:t>
            </a:r>
            <a:r>
              <a:rPr lang="en-US" sz="1800" dirty="0"/>
              <a:t> to specific attacks.</a:t>
            </a:r>
          </a:p>
          <a:p>
            <a:r>
              <a:rPr lang="en-US" sz="1800" dirty="0"/>
              <a:t>Output layer: 10 neurons corresponding to CIFAR-10 classes.</a:t>
            </a:r>
          </a:p>
          <a:p>
            <a:r>
              <a:rPr lang="en-US" sz="1800" dirty="0"/>
              <a:t>Balances clean sample accuracy and robustness.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1D1FB-927E-D5E6-585B-AFDF0F1EA34A}"/>
              </a:ext>
            </a:extLst>
          </p:cNvPr>
          <p:cNvSpPr txBox="1"/>
          <p:nvPr/>
        </p:nvSpPr>
        <p:spPr>
          <a:xfrm>
            <a:off x="4397332" y="140677"/>
            <a:ext cx="356283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MODEL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825331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CDD6-C337-10E5-262E-937E64FE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47116C-DDC2-8498-FCEF-5CB165DD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With both the Purification and the Mitigation models, two purification strategies are performed:</a:t>
            </a:r>
          </a:p>
          <a:p>
            <a:pPr lvl="1"/>
            <a:r>
              <a:rPr lang="en-US" sz="1600" b="1" dirty="0"/>
              <a:t>Single-stage purification</a:t>
            </a:r>
            <a:r>
              <a:rPr lang="en-US" sz="1600" dirty="0"/>
              <a:t>: Applies diffusion-based purification using a single, fixed timestep.</a:t>
            </a:r>
          </a:p>
          <a:p>
            <a:pPr lvl="1"/>
            <a:r>
              <a:rPr lang="en-US" sz="1600" b="1" dirty="0"/>
              <a:t>Ensemble purification</a:t>
            </a:r>
            <a:r>
              <a:rPr lang="en-US" sz="1600" dirty="0"/>
              <a:t>: </a:t>
            </a:r>
            <a:r>
              <a:rPr lang="en-IN" sz="1600" dirty="0"/>
              <a:t>Aggregates predictions by averaging the Mitigation model’s logits from multiple diffusion timesteps, effectively combining varied purification strengths into a single, more robust final decision.</a:t>
            </a:r>
            <a:endParaRPr lang="en-US" sz="1600" dirty="0"/>
          </a:p>
          <a:p>
            <a:r>
              <a:rPr lang="en-US" sz="1600" dirty="0"/>
              <a:t>Images processed through Ensemble Purification consistently demonstrate higher classification accuracy under the Mitigation Model compared to both unpurified inputs and those purified using the Single-stage approach.</a:t>
            </a:r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1D1FB-927E-D5E6-585B-AFDF0F1EA34A}"/>
              </a:ext>
            </a:extLst>
          </p:cNvPr>
          <p:cNvSpPr txBox="1"/>
          <p:nvPr/>
        </p:nvSpPr>
        <p:spPr>
          <a:xfrm>
            <a:off x="1336391" y="140677"/>
            <a:ext cx="9684698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UNITING THE PURIFICATION AND MITIGATION MODELS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93D55-1449-C055-C3C6-08688D244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50" y="3254195"/>
            <a:ext cx="68961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378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8EF266-708A-B0C4-3BC3-FB6F90B8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6388" y="1018902"/>
            <a:ext cx="11364686" cy="5276389"/>
          </a:xfrm>
        </p:spPr>
        <p:txBody>
          <a:bodyPr>
            <a:noAutofit/>
          </a:bodyPr>
          <a:lstStyle/>
          <a:p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2122B-7EA3-2015-7B67-5581E39EE56A}"/>
              </a:ext>
            </a:extLst>
          </p:cNvPr>
          <p:cNvSpPr txBox="1"/>
          <p:nvPr/>
        </p:nvSpPr>
        <p:spPr>
          <a:xfrm>
            <a:off x="5357338" y="67202"/>
            <a:ext cx="1477323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83F80-95CF-1677-DB8D-BDB55966A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842" y="1289330"/>
            <a:ext cx="7654315" cy="454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061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2FBE-5F31-9766-C909-AF50BBE8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B0D98-E5DF-CFD5-CC71-46AADEA6B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Overall system accuracy </a:t>
            </a:r>
            <a:r>
              <a:rPr lang="en-US" sz="1600" dirty="0"/>
              <a:t>(on a corpus of clean + adversarial samples): 91.6%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5A88D-CAF9-0C7E-4D6A-DDC3A85B6D33}"/>
              </a:ext>
            </a:extLst>
          </p:cNvPr>
          <p:cNvSpPr txBox="1"/>
          <p:nvPr/>
        </p:nvSpPr>
        <p:spPr>
          <a:xfrm>
            <a:off x="5304625" y="140677"/>
            <a:ext cx="174823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B9B8B-6519-D8C2-ED06-B0A2500F0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235638"/>
              </p:ext>
            </p:extLst>
          </p:nvPr>
        </p:nvGraphicFramePr>
        <p:xfrm>
          <a:off x="1550074" y="2106498"/>
          <a:ext cx="9257314" cy="24985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8657">
                  <a:extLst>
                    <a:ext uri="{9D8B030D-6E8A-4147-A177-3AD203B41FA5}">
                      <a16:colId xmlns:a16="http://schemas.microsoft.com/office/drawing/2014/main" val="4095952472"/>
                    </a:ext>
                  </a:extLst>
                </a:gridCol>
                <a:gridCol w="4628657">
                  <a:extLst>
                    <a:ext uri="{9D8B030D-6E8A-4147-A177-3AD203B41FA5}">
                      <a16:colId xmlns:a16="http://schemas.microsoft.com/office/drawing/2014/main" val="2838464334"/>
                    </a:ext>
                  </a:extLst>
                </a:gridCol>
              </a:tblGrid>
              <a:tr h="677651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on Adversarial Samples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8584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purification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40643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Single-step purification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33816"/>
                  </a:ext>
                </a:extLst>
              </a:tr>
              <a:tr h="6069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Ensemble purification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89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9290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ADD8-C38D-407A-E0CD-678AF195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16B8F1-E201-4C42-743B-A0F34B993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Adaptive purification: Dynamic timestep control based on model confidence.</a:t>
            </a:r>
          </a:p>
          <a:p>
            <a:r>
              <a:rPr lang="en-US" sz="2000" dirty="0"/>
              <a:t>Scalability: Extend to higher-resolution datasets (CIFAR-100, ImageNet).</a:t>
            </a:r>
          </a:p>
          <a:p>
            <a:r>
              <a:rPr lang="en-US" sz="2000" dirty="0"/>
              <a:t>Efficiency: Explore lighter diffusion models for faster inference.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36A49-7C47-48CE-7190-0D1C377F9AA0}"/>
              </a:ext>
            </a:extLst>
          </p:cNvPr>
          <p:cNvSpPr txBox="1"/>
          <p:nvPr/>
        </p:nvSpPr>
        <p:spPr>
          <a:xfrm>
            <a:off x="4726734" y="140677"/>
            <a:ext cx="2903997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362682061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88D130-25DC-A73E-14A0-F79AA7ACE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2000" dirty="0"/>
              <a:t>Publications	</a:t>
            </a:r>
          </a:p>
          <a:p>
            <a:pPr lvl="1"/>
            <a:r>
              <a:rPr lang="en-IN" sz="2000" b="1" dirty="0"/>
              <a:t>Nie W, Lin B, </a:t>
            </a:r>
            <a:r>
              <a:rPr lang="en-IN" sz="2000" b="1" dirty="0" err="1"/>
              <a:t>Narodytska</a:t>
            </a:r>
            <a:r>
              <a:rPr lang="en-IN" sz="2000" b="1" dirty="0"/>
              <a:t> N, Patel A, “Purifying Diffusion Models Improves Out-of-Distribution Robustness</a:t>
            </a:r>
            <a:r>
              <a:rPr lang="en-IN" sz="2000" dirty="0"/>
              <a:t>”, arXiv:2205.07460, May 2022.</a:t>
            </a:r>
          </a:p>
          <a:p>
            <a:pPr lvl="1"/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Hongyang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Zhang,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Yaodong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Yu,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Jiantao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Jiao, Eric P. Xing, Laurent El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Ghaoui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Michael I. Jordan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N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Theoretically Principled Trade-off between Robustness and Accuracy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en-IN" sz="2000" i="0" dirty="0">
                <a:effectLst/>
              </a:rPr>
              <a:t>arXiv:1901.08573, June 2019</a:t>
            </a:r>
          </a:p>
          <a:p>
            <a:pPr lvl="1"/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Yisen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Wang,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Difan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Zou, Jinfeng Yi, James Bailey,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Xingjun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Ma, </a:t>
            </a:r>
            <a:r>
              <a:rPr lang="en-IN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Quanquan</a:t>
            </a:r>
            <a:r>
              <a:rPr lang="en-IN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Gu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Improving Adversarial Robustness Requires Revisiting Misclassified Examples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”, </a:t>
            </a:r>
            <a:r>
              <a:rPr lang="en-IN" sz="2000" i="0" dirty="0">
                <a:effectLst/>
              </a:rPr>
              <a:t>Apr 2024</a:t>
            </a:r>
          </a:p>
          <a:p>
            <a:pPr lvl="1"/>
            <a:r>
              <a:rPr lang="en-IN" sz="2000" b="1" dirty="0"/>
              <a:t>Madry A, </a:t>
            </a:r>
            <a:r>
              <a:rPr lang="en-IN" sz="2000" b="1" dirty="0" err="1"/>
              <a:t>Makelov</a:t>
            </a:r>
            <a:r>
              <a:rPr lang="en-IN" sz="2000" b="1" dirty="0"/>
              <a:t> A, Schmidt L, Tsipras D, Vladu A, “Towards Deep Learning Models Resistant to Adversarial Attacks”, arXiv:1706.06083, 2018.</a:t>
            </a:r>
            <a:endParaRPr lang="en-IN" sz="2000" dirty="0"/>
          </a:p>
          <a:p>
            <a:pPr lvl="1"/>
            <a:r>
              <a:rPr lang="en-IN" sz="2000" b="1" dirty="0"/>
              <a:t>Eric Wong, Leslie Rice, J. Zico Kolter, “Fast is Better than Free: Revisiting Adversarial Training”, arXiv:2001.03994, Jan 2020.</a:t>
            </a: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r>
              <a:rPr lang="en-IN" sz="2000" dirty="0"/>
              <a:t>Code and Data Sources</a:t>
            </a:r>
          </a:p>
          <a:p>
            <a:pPr lvl="1"/>
            <a:r>
              <a:rPr lang="en-IN" sz="2000" b="1" dirty="0"/>
              <a:t>Diffusion Model.</a:t>
            </a:r>
            <a:r>
              <a:rPr lang="en-IN" sz="2000" dirty="0"/>
              <a:t> Retrieved from </a:t>
            </a:r>
            <a:r>
              <a:rPr lang="en-IN" sz="2000" dirty="0">
                <a:hlinkClick r:id="rId2"/>
              </a:rPr>
              <a:t>https://github.com/pesser/pytorch_diffusion</a:t>
            </a:r>
            <a:endParaRPr lang="en-IN" sz="2000" dirty="0"/>
          </a:p>
          <a:p>
            <a:pPr lvl="1"/>
            <a:r>
              <a:rPr lang="en-IN" sz="2000" dirty="0"/>
              <a:t>Trusted AI’s Adversarial Robustness Toolbox. Retrieved from </a:t>
            </a:r>
            <a:r>
              <a:rPr lang="en-IN" sz="2000" dirty="0">
                <a:hlinkClick r:id="rId2"/>
              </a:rPr>
              <a:t>https://github.com/</a:t>
            </a:r>
            <a:r>
              <a:rPr lang="en-IN" sz="2000" dirty="0"/>
              <a:t>Trusted-AI/adversarial-robustness-toolbox</a:t>
            </a:r>
          </a:p>
          <a:p>
            <a:pPr lvl="1"/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5D7DC-3D12-75F4-8D69-04795357EDCA}"/>
              </a:ext>
            </a:extLst>
          </p:cNvPr>
          <p:cNvSpPr txBox="1"/>
          <p:nvPr/>
        </p:nvSpPr>
        <p:spPr>
          <a:xfrm>
            <a:off x="5237914" y="127321"/>
            <a:ext cx="171617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bg1"/>
                </a:solidFill>
              </a:rPr>
              <a:t>References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0739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2011103017_22011103026_Capstone_Presentation" id="{963C62CE-5916-6A46-984B-DC468A433256}" vid="{2971EBAC-09A3-CF42-AA5B-49E00773EDCF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4045</TotalTime>
  <Words>1072</Words>
  <Application>Microsoft Macintosh PowerPoint</Application>
  <PresentationFormat>Widescreen</PresentationFormat>
  <Paragraphs>127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Senthilkumaran Dharani</dc:creator>
  <cp:lastModifiedBy>M K Lokesh Kumar</cp:lastModifiedBy>
  <cp:revision>22</cp:revision>
  <dcterms:created xsi:type="dcterms:W3CDTF">2025-09-21T17:50:43Z</dcterms:created>
  <dcterms:modified xsi:type="dcterms:W3CDTF">2025-11-07T05:45:08Z</dcterms:modified>
</cp:coreProperties>
</file>