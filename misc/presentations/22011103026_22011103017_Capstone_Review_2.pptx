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480"/>
    <p:restoredTop sz="94658"/>
  </p:normalViewPr>
  <p:slideViewPr>
    <p:cSldViewPr snapToGrid="0">
      <p:cViewPr>
        <p:scale>
          <a:sx n="100" d="100"/>
          <a:sy n="100" d="100"/>
        </p:scale>
        <p:origin x="264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1" name="Shape 3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773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54;p13"/>
          <p:cNvSpPr/>
          <p:nvPr/>
        </p:nvSpPr>
        <p:spPr>
          <a:xfrm>
            <a:off x="357900" y="569000"/>
            <a:ext cx="11476202" cy="1368301"/>
          </a:xfrm>
          <a:prstGeom prst="roundRect">
            <a:avLst>
              <a:gd name="adj" fmla="val 9040"/>
            </a:avLst>
          </a:prstGeom>
          <a:solidFill>
            <a:srgbClr val="335295"/>
          </a:solidFill>
          <a:ln w="12700">
            <a:miter lim="400000"/>
          </a:ln>
          <a:effectLst>
            <a:outerShdw blurRad="63500" dist="114300" dir="2700000" rotWithShape="0">
              <a:srgbClr val="000000">
                <a:alpha val="30000"/>
              </a:srgbClr>
            </a:outerShdw>
          </a:effectLst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14" name="Google Shape;56;p13"/>
          <p:cNvSpPr txBox="1"/>
          <p:nvPr/>
        </p:nvSpPr>
        <p:spPr>
          <a:xfrm>
            <a:off x="492033" y="718401"/>
            <a:ext cx="11207933" cy="536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3" tIns="91423" rIns="91423" bIns="91423">
            <a:spAutoFit/>
          </a:bodyPr>
          <a:lstStyle>
            <a:lvl1pPr algn="ctr">
              <a:lnSpc>
                <a:spcPct val="115000"/>
              </a:lnSpc>
              <a:defRPr sz="2800">
                <a:solidFill>
                  <a:srgbClr val="FFFFFF"/>
                </a:solidFill>
              </a:defRPr>
            </a:lvl1pPr>
          </a:lstStyle>
          <a:p>
            <a:r>
              <a:t> </a:t>
            </a:r>
          </a:p>
        </p:txBody>
      </p:sp>
      <p:pic>
        <p:nvPicPr>
          <p:cNvPr id="15" name="Google Shape;55;p13" descr="Google Shape;55;p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900" y="5905896"/>
            <a:ext cx="11476199" cy="766207"/>
          </a:xfrm>
          <a:prstGeom prst="rect">
            <a:avLst/>
          </a:prstGeom>
          <a:ln w="12700">
            <a:miter lim="400000"/>
          </a:ln>
        </p:spPr>
      </p:pic>
      <p:sp>
        <p:nvSpPr>
          <p:cNvPr id="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>
            <a:spLocks noGrp="1"/>
          </p:cNvSpPr>
          <p:nvPr>
            <p:ph type="body" idx="1"/>
          </p:nvPr>
        </p:nvSpPr>
        <p:spPr>
          <a:xfrm>
            <a:off x="496388" y="1018903"/>
            <a:ext cx="11364686" cy="46736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3" name="Google Shape;64;p14" descr="Google Shape;64;p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388" y="5734594"/>
            <a:ext cx="11364687" cy="843628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Google Shape;63;p14"/>
          <p:cNvSpPr/>
          <p:nvPr/>
        </p:nvSpPr>
        <p:spPr>
          <a:xfrm>
            <a:off x="74" y="-28227"/>
            <a:ext cx="12191925" cy="800218"/>
          </a:xfrm>
          <a:prstGeom prst="rect">
            <a:avLst/>
          </a:prstGeom>
          <a:solidFill>
            <a:srgbClr val="33529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5" name="Title Text"/>
          <p:cNvSpPr txBox="1">
            <a:spLocks noGrp="1"/>
          </p:cNvSpPr>
          <p:nvPr>
            <p:ph type="title"/>
          </p:nvPr>
        </p:nvSpPr>
        <p:spPr>
          <a:xfrm>
            <a:off x="1826683" y="1371600"/>
            <a:ext cx="9753601" cy="465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/>
          <a:lstStyle/>
          <a:p>
            <a:r>
              <a:t>Title Text</a:t>
            </a:r>
          </a:p>
        </p:txBody>
      </p: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78978" y="6232199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txStyles>
    <p:titleStyle>
      <a:lvl1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723900" marR="0" indent="-2667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1234438" marR="0" indent="-320038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17272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21844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26416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30988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35560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40132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58;p13"/>
          <p:cNvSpPr txBox="1"/>
          <p:nvPr/>
        </p:nvSpPr>
        <p:spPr>
          <a:xfrm>
            <a:off x="3150499" y="4256609"/>
            <a:ext cx="5917503" cy="7528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3" tIns="91423" rIns="91423" bIns="91423">
            <a:spAutoFit/>
          </a:bodyPr>
          <a:lstStyle/>
          <a:p>
            <a:pPr algn="ctr">
              <a:lnSpc>
                <a:spcPct val="115000"/>
              </a:lnSpc>
            </a:pPr>
            <a:r>
              <a:t>Dr. Dhivya S</a:t>
            </a:r>
          </a:p>
          <a:p>
            <a:pPr algn="ctr"/>
            <a:r>
              <a:t>Shiv Nadar University Chennai</a:t>
            </a:r>
          </a:p>
        </p:txBody>
      </p:sp>
      <p:sp>
        <p:nvSpPr>
          <p:cNvPr id="34" name="Google Shape;57;p13"/>
          <p:cNvSpPr txBox="1"/>
          <p:nvPr/>
        </p:nvSpPr>
        <p:spPr>
          <a:xfrm>
            <a:off x="3150499" y="2825220"/>
            <a:ext cx="5917503" cy="832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3" tIns="91423" rIns="91423" bIns="91423">
            <a:spAutoFit/>
          </a:bodyPr>
          <a:lstStyle/>
          <a:p>
            <a:pPr algn="ctr">
              <a:defRPr sz="2200"/>
            </a:pPr>
            <a:r>
              <a:t>Harish Senthilkumaran Dharani - 22011103017</a:t>
            </a:r>
          </a:p>
          <a:p>
            <a:pPr algn="ctr">
              <a:defRPr sz="2200"/>
            </a:pPr>
            <a:r>
              <a:t>M K Lokesh Kumar - 22011103026</a:t>
            </a:r>
          </a:p>
        </p:txBody>
      </p:sp>
      <p:sp>
        <p:nvSpPr>
          <p:cNvPr id="35" name="Google Shape;56;p13"/>
          <p:cNvSpPr txBox="1"/>
          <p:nvPr/>
        </p:nvSpPr>
        <p:spPr>
          <a:xfrm>
            <a:off x="569841" y="776886"/>
            <a:ext cx="11052316" cy="11465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3" tIns="91423" rIns="91423" bIns="91423">
            <a:spAutoFit/>
          </a:bodyPr>
          <a:lstStyle>
            <a:lvl1pPr algn="ctr">
              <a:lnSpc>
                <a:spcPct val="115000"/>
              </a:lnSpc>
              <a:defRPr sz="2800">
                <a:solidFill>
                  <a:srgbClr val="FFFFFF"/>
                </a:solidFill>
              </a:defRPr>
            </a:lvl1pPr>
          </a:lstStyle>
          <a:p>
            <a:r>
              <a:rPr dirty="0"/>
              <a:t>Security By and For Deep Learning Models</a:t>
            </a:r>
            <a:endParaRPr lang="en-US" dirty="0"/>
          </a:p>
          <a:p>
            <a:r>
              <a:rPr lang="en-IN" i="1" dirty="0"/>
              <a:t>Capstone Project Review 2</a:t>
            </a:r>
            <a:endParaRPr i="1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9"/>
          <p:cNvSpPr txBox="1"/>
          <p:nvPr/>
        </p:nvSpPr>
        <p:spPr>
          <a:xfrm>
            <a:off x="3091860" y="138458"/>
            <a:ext cx="6008280" cy="558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lnSpc>
                <a:spcPct val="115000"/>
              </a:lnSpc>
              <a:defRPr>
                <a:solidFill>
                  <a:srgbClr val="FFFFFF"/>
                </a:solidFill>
              </a:defRPr>
            </a:lvl1pPr>
          </a:lstStyle>
          <a:p>
            <a:r>
              <a:rPr sz="2800" dirty="0"/>
              <a:t>Architecture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FAFFA6E-C179-510B-6996-433984A7B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382" y="1597306"/>
            <a:ext cx="10727236" cy="3553427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7F0541D-218D-A23D-2C90-89607B9B27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4523" y="903044"/>
            <a:ext cx="11364686" cy="5314876"/>
          </a:xfrm>
        </p:spPr>
        <p:txBody>
          <a:bodyPr>
            <a:normAutofit/>
          </a:bodyPr>
          <a:lstStyle/>
          <a:p>
            <a:r>
              <a:rPr lang="en-US" sz="1600" b="1" dirty="0"/>
              <a:t>The Baseline Model</a:t>
            </a:r>
          </a:p>
          <a:p>
            <a:pPr lvl="1"/>
            <a:r>
              <a:rPr lang="en-US" sz="1600" dirty="0"/>
              <a:t>Standard Convolutional Neural Network for digit classification</a:t>
            </a:r>
          </a:p>
          <a:p>
            <a:pPr lvl="1"/>
            <a:r>
              <a:rPr lang="en-US" sz="1600" dirty="0"/>
              <a:t>Learns to classify digits (0-9) based on CLEAN, normal images</a:t>
            </a:r>
          </a:p>
          <a:p>
            <a:pPr lvl="1"/>
            <a:r>
              <a:rPr lang="en-US" sz="1600" dirty="0"/>
              <a:t>Trained on 5 Epochs on original MNIST dataset</a:t>
            </a:r>
          </a:p>
          <a:p>
            <a:pPr lvl="1"/>
            <a:endParaRPr lang="en-US" sz="1600" dirty="0"/>
          </a:p>
          <a:p>
            <a:r>
              <a:rPr lang="en-US" sz="1600" b="1" dirty="0"/>
              <a:t>The Detection Model</a:t>
            </a:r>
          </a:p>
          <a:p>
            <a:pPr lvl="1"/>
            <a:r>
              <a:rPr lang="en-US" sz="1600" dirty="0"/>
              <a:t>Binary Convolutional Neural Network to decide if an image is “clean” or “adversarial”</a:t>
            </a:r>
          </a:p>
          <a:p>
            <a:pPr lvl="1"/>
            <a:r>
              <a:rPr lang="en-US" sz="1600" dirty="0"/>
              <a:t>Trained for 10 Epochs on a custom-built dataset consisting of 60,000 clean and 60,000 PGD-attacked images</a:t>
            </a:r>
          </a:p>
          <a:p>
            <a:pPr lvl="1"/>
            <a:endParaRPr lang="en-US" sz="1600" dirty="0"/>
          </a:p>
          <a:p>
            <a:r>
              <a:rPr lang="en-US" sz="1600" b="1" dirty="0"/>
              <a:t>The Mitigation Model</a:t>
            </a:r>
          </a:p>
          <a:p>
            <a:pPr lvl="1"/>
            <a:r>
              <a:rPr lang="en-US" sz="1600" dirty="0"/>
              <a:t>Robust, hardened CNN to accurately classify images even if they are malicious</a:t>
            </a:r>
          </a:p>
          <a:p>
            <a:pPr lvl="1"/>
            <a:r>
              <a:rPr lang="en-US" sz="1600" dirty="0"/>
              <a:t>Internal features trained to be resistant to small perturbations</a:t>
            </a:r>
          </a:p>
          <a:p>
            <a:pPr lvl="1"/>
            <a:r>
              <a:rPr lang="en-US" sz="1600" dirty="0"/>
              <a:t>Forced Adversarial Training for 20 epochs, learning on-the-fly PGD attacks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AF906D-9C38-FFD3-0400-214F1AC2C678}"/>
              </a:ext>
            </a:extLst>
          </p:cNvPr>
          <p:cNvSpPr txBox="1"/>
          <p:nvPr/>
        </p:nvSpPr>
        <p:spPr>
          <a:xfrm>
            <a:off x="4800294" y="211015"/>
            <a:ext cx="2887966" cy="5232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The 3 Models Used</a:t>
            </a:r>
          </a:p>
        </p:txBody>
      </p:sp>
    </p:spTree>
    <p:extLst>
      <p:ext uri="{BB962C8B-B14F-4D97-AF65-F5344CB8AC3E}">
        <p14:creationId xmlns:p14="http://schemas.microsoft.com/office/powerpoint/2010/main" val="3558059416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6278838-9E0D-2D6C-B497-AFE674842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6388" y="1018902"/>
            <a:ext cx="11364686" cy="5069381"/>
          </a:xfrm>
        </p:spPr>
        <p:txBody>
          <a:bodyPr>
            <a:normAutofit/>
          </a:bodyPr>
          <a:lstStyle/>
          <a:p>
            <a:r>
              <a:rPr lang="en-US" sz="1600" dirty="0"/>
              <a:t>What is PGD?</a:t>
            </a:r>
          </a:p>
          <a:p>
            <a:pPr lvl="1"/>
            <a:r>
              <a:rPr lang="en-US" sz="1600" dirty="0"/>
              <a:t>Iterative, white-box attack	- full knowledge of the model’s architecture</a:t>
            </a:r>
          </a:p>
          <a:p>
            <a:pPr lvl="1"/>
            <a:r>
              <a:rPr lang="en-US" sz="1600" dirty="0"/>
              <a:t>Small steps in </a:t>
            </a:r>
            <a:r>
              <a:rPr lang="en-US" sz="1600" b="1" dirty="0"/>
              <a:t>SAME</a:t>
            </a:r>
            <a:r>
              <a:rPr lang="en-US" sz="1600" dirty="0"/>
              <a:t> direction of the gradient of the loss to maximize misclassification</a:t>
            </a:r>
          </a:p>
          <a:p>
            <a:pPr lvl="1"/>
            <a:r>
              <a:rPr lang="en-US" sz="1600" dirty="0"/>
              <a:t>Imperceptible perturbation</a:t>
            </a:r>
          </a:p>
          <a:p>
            <a:pPr lvl="1"/>
            <a:r>
              <a:rPr lang="en-US" sz="1600" dirty="0"/>
              <a:t>Least amount of noise needed by moving image’s pixels in </a:t>
            </a:r>
            <a:r>
              <a:rPr lang="en-US" sz="1600" b="1" dirty="0"/>
              <a:t>SAME</a:t>
            </a:r>
            <a:r>
              <a:rPr lang="en-US" sz="1600" dirty="0"/>
              <a:t> direction as the gradient gradually</a:t>
            </a:r>
          </a:p>
          <a:p>
            <a:pPr lvl="1"/>
            <a:endParaRPr lang="en-US" sz="1600" dirty="0"/>
          </a:p>
          <a:p>
            <a:r>
              <a:rPr lang="en-US" sz="1600" dirty="0"/>
              <a:t>When and How is it used?</a:t>
            </a:r>
          </a:p>
          <a:p>
            <a:pPr lvl="1"/>
            <a:r>
              <a:rPr lang="en-US" sz="1600" dirty="0"/>
              <a:t>To </a:t>
            </a:r>
            <a:r>
              <a:rPr lang="en-US" sz="1600" b="1" dirty="0"/>
              <a:t>Create Data</a:t>
            </a:r>
            <a:r>
              <a:rPr lang="en-US" sz="1600" dirty="0"/>
              <a:t> – moderate strength (</a:t>
            </a:r>
            <a:r>
              <a:rPr lang="el-GR" sz="1600" dirty="0"/>
              <a:t>ε=0.09</a:t>
            </a:r>
            <a:r>
              <a:rPr lang="en-US" sz="1600" dirty="0"/>
              <a:t>) to generate examples to train Detection Model</a:t>
            </a:r>
          </a:p>
          <a:p>
            <a:pPr lvl="1"/>
            <a:r>
              <a:rPr lang="en-US" sz="1600" dirty="0"/>
              <a:t>To </a:t>
            </a:r>
            <a:r>
              <a:rPr lang="en-US" sz="1600" b="1" dirty="0"/>
              <a:t>Harden the defense </a:t>
            </a:r>
            <a:r>
              <a:rPr lang="en-US" sz="1600" dirty="0"/>
              <a:t>– higher strength (</a:t>
            </a:r>
            <a:r>
              <a:rPr lang="el-GR" sz="1600" dirty="0"/>
              <a:t>ε=0.</a:t>
            </a:r>
            <a:r>
              <a:rPr lang="en-US" sz="1600" dirty="0"/>
              <a:t>15) to strengthen the Mitigation Model by exposing it to on-the-fly adversarial examples</a:t>
            </a:r>
          </a:p>
          <a:p>
            <a:pPr lvl="1"/>
            <a:r>
              <a:rPr lang="en-US" sz="1600" b="1" dirty="0"/>
              <a:t>Final Validation </a:t>
            </a:r>
            <a:r>
              <a:rPr lang="en-US" sz="1600" dirty="0"/>
              <a:t>– very strong PGD attack (</a:t>
            </a:r>
            <a:r>
              <a:rPr lang="en-IN" sz="1600" dirty="0"/>
              <a:t>eps=0.15) to test models on unseen MNIST testing data</a:t>
            </a:r>
          </a:p>
          <a:p>
            <a:pPr lvl="1"/>
            <a:endParaRPr lang="en-US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426D38-4F54-FFEB-0815-CE88FDDCA414}"/>
              </a:ext>
            </a:extLst>
          </p:cNvPr>
          <p:cNvSpPr txBox="1"/>
          <p:nvPr/>
        </p:nvSpPr>
        <p:spPr>
          <a:xfrm flipH="1">
            <a:off x="3921048" y="196770"/>
            <a:ext cx="5350273" cy="5232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bg1"/>
                </a:solidFill>
              </a:rPr>
              <a:t>Projected Gradient Descent - PGD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65979220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7814B18-41DD-9012-FC6C-7BD65891D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3656" y="926307"/>
            <a:ext cx="11364686" cy="5231426"/>
          </a:xfrm>
        </p:spPr>
        <p:txBody>
          <a:bodyPr>
            <a:normAutofit/>
          </a:bodyPr>
          <a:lstStyle/>
          <a:p>
            <a:r>
              <a:rPr lang="en-US" sz="1600" dirty="0"/>
              <a:t>Phase 1: </a:t>
            </a:r>
            <a:r>
              <a:rPr lang="en-US" sz="1600" b="1" dirty="0"/>
              <a:t>Establish Baseline</a:t>
            </a:r>
          </a:p>
          <a:p>
            <a:pPr lvl="1"/>
            <a:r>
              <a:rPr lang="en-US" sz="1600" dirty="0"/>
              <a:t>Train baseline model on MNIST dataset.</a:t>
            </a:r>
          </a:p>
          <a:p>
            <a:pPr lvl="1"/>
            <a:r>
              <a:rPr lang="en-US" sz="1600" dirty="0"/>
              <a:t>Vulnerable target for initial attacks</a:t>
            </a:r>
          </a:p>
          <a:p>
            <a:pPr lvl="1"/>
            <a:endParaRPr lang="en-US" sz="1600" dirty="0"/>
          </a:p>
          <a:p>
            <a:r>
              <a:rPr lang="en-US" sz="1600" dirty="0"/>
              <a:t>Phase 2: </a:t>
            </a:r>
            <a:r>
              <a:rPr lang="en-US" sz="1600" b="1" dirty="0"/>
              <a:t>Train the Detection Model</a:t>
            </a:r>
          </a:p>
          <a:p>
            <a:pPr lvl="1"/>
            <a:r>
              <a:rPr lang="en-US" sz="1600" dirty="0"/>
              <a:t>Use Baseline Model to generate 60,000 adversarial images and combine with the 60,000 clean images</a:t>
            </a:r>
          </a:p>
          <a:p>
            <a:pPr lvl="1"/>
            <a:r>
              <a:rPr lang="en-US" sz="1600" dirty="0"/>
              <a:t>Train Detection Model on this new custom dataset to differentiate between “clean” and “adversarial”</a:t>
            </a:r>
          </a:p>
          <a:p>
            <a:pPr lvl="1"/>
            <a:endParaRPr lang="en-US" sz="1600" dirty="0"/>
          </a:p>
          <a:p>
            <a:r>
              <a:rPr lang="en-US" sz="1600" dirty="0"/>
              <a:t>Phase 3: </a:t>
            </a:r>
            <a:r>
              <a:rPr lang="en-US" sz="1600" b="1" dirty="0"/>
              <a:t>Forge Mitigation Model</a:t>
            </a:r>
          </a:p>
          <a:p>
            <a:pPr lvl="1"/>
            <a:r>
              <a:rPr lang="en-US" sz="1600" dirty="0"/>
              <a:t>Training Mitigation Model by exposing it to freshly generated PGD attacks during each training step</a:t>
            </a:r>
          </a:p>
          <a:p>
            <a:pPr lvl="1"/>
            <a:r>
              <a:rPr lang="en-US" sz="1600" dirty="0"/>
              <a:t>Meant to be resilient to future PGD attacks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02FB65-3D64-B995-8135-3499221EA16B}"/>
              </a:ext>
            </a:extLst>
          </p:cNvPr>
          <p:cNvSpPr txBox="1"/>
          <p:nvPr/>
        </p:nvSpPr>
        <p:spPr>
          <a:xfrm>
            <a:off x="4985441" y="231494"/>
            <a:ext cx="2221117" cy="5232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bg1"/>
                </a:solidFill>
              </a:rPr>
              <a:t>Training Phase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7419520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A38C70-50E8-2E3F-2491-C4EEBE5C7A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6388" y="972274"/>
            <a:ext cx="11364686" cy="5289630"/>
          </a:xfrm>
        </p:spPr>
        <p:txBody>
          <a:bodyPr>
            <a:normAutofit/>
          </a:bodyPr>
          <a:lstStyle/>
          <a:p>
            <a:r>
              <a:rPr lang="en-US" sz="1600" b="1" dirty="0"/>
              <a:t>Input Layer</a:t>
            </a:r>
            <a:r>
              <a:rPr lang="en-US" sz="1600" dirty="0"/>
              <a:t>: 28x28 Grayscale Image</a:t>
            </a:r>
          </a:p>
          <a:p>
            <a:endParaRPr lang="en-US" sz="1600" dirty="0"/>
          </a:p>
          <a:p>
            <a:r>
              <a:rPr lang="en-US" sz="1600" b="1" dirty="0"/>
              <a:t>1st CNN Layer</a:t>
            </a:r>
            <a:r>
              <a:rPr lang="en-US" sz="1600" dirty="0"/>
              <a:t>: 32 filters, 3x3 kernel + </a:t>
            </a:r>
            <a:r>
              <a:rPr lang="en-US" sz="1600" dirty="0" err="1"/>
              <a:t>ReLU</a:t>
            </a:r>
            <a:r>
              <a:rPr lang="en-US" sz="1600" dirty="0"/>
              <a:t> Activation</a:t>
            </a:r>
          </a:p>
          <a:p>
            <a:r>
              <a:rPr lang="en-US" sz="1600" b="1" dirty="0"/>
              <a:t>2nd CNN Layer</a:t>
            </a:r>
            <a:r>
              <a:rPr lang="en-US" sz="1600" dirty="0"/>
              <a:t>: 64 filters, 3x3 kernel + </a:t>
            </a:r>
            <a:r>
              <a:rPr lang="en-US" sz="1600" dirty="0" err="1"/>
              <a:t>ReLU</a:t>
            </a:r>
            <a:r>
              <a:rPr lang="en-US" sz="1600" dirty="0"/>
              <a:t> Activation</a:t>
            </a:r>
          </a:p>
          <a:p>
            <a:endParaRPr lang="en-US" sz="1600" dirty="0"/>
          </a:p>
          <a:p>
            <a:r>
              <a:rPr lang="en-US" sz="1600" b="1" dirty="0"/>
              <a:t>Max Pooling </a:t>
            </a:r>
            <a:r>
              <a:rPr lang="en-US" sz="1600" dirty="0"/>
              <a:t>(2x2) and </a:t>
            </a:r>
            <a:r>
              <a:rPr lang="en-US" sz="1600" b="1" dirty="0"/>
              <a:t>Dropout Layer </a:t>
            </a:r>
            <a:r>
              <a:rPr lang="en-US" sz="1600" dirty="0"/>
              <a:t>(p=0.25)</a:t>
            </a:r>
          </a:p>
          <a:p>
            <a:endParaRPr lang="en-US" sz="1600" dirty="0"/>
          </a:p>
          <a:p>
            <a:r>
              <a:rPr lang="en-US" sz="1600" b="1" dirty="0"/>
              <a:t>Flattening</a:t>
            </a:r>
            <a:r>
              <a:rPr lang="en-US" sz="1600" dirty="0"/>
              <a:t> 2D vector to 1D vector</a:t>
            </a:r>
          </a:p>
          <a:p>
            <a:r>
              <a:rPr lang="en-US" sz="1600" b="1" dirty="0"/>
              <a:t>Fully Connected Layer</a:t>
            </a:r>
            <a:r>
              <a:rPr lang="en-US" sz="1600" dirty="0"/>
              <a:t>: 128 neurons + </a:t>
            </a:r>
            <a:r>
              <a:rPr lang="en-US" sz="1600" dirty="0" err="1"/>
              <a:t>ReLU</a:t>
            </a:r>
            <a:r>
              <a:rPr lang="en-US" sz="1600" dirty="0"/>
              <a:t> Activation + Dropout (p=0.5)</a:t>
            </a:r>
          </a:p>
          <a:p>
            <a:endParaRPr lang="en-US" sz="1600" dirty="0"/>
          </a:p>
          <a:p>
            <a:r>
              <a:rPr lang="en-US" sz="1600" b="1" dirty="0"/>
              <a:t>Output Layer</a:t>
            </a:r>
            <a:r>
              <a:rPr lang="en-US" sz="1600" dirty="0"/>
              <a:t>: </a:t>
            </a:r>
          </a:p>
          <a:p>
            <a:pPr lvl="1"/>
            <a:r>
              <a:rPr lang="en-US" sz="1600" dirty="0"/>
              <a:t>10 Neurons for Baseline and Mitigation Model</a:t>
            </a:r>
          </a:p>
          <a:p>
            <a:pPr lvl="1"/>
            <a:r>
              <a:rPr lang="en-US" sz="1600" dirty="0"/>
              <a:t>2 Neurons for Detection Model</a:t>
            </a:r>
          </a:p>
          <a:p>
            <a:pPr lvl="1"/>
            <a:r>
              <a:rPr lang="en-US" sz="1600" dirty="0" err="1"/>
              <a:t>Softmax</a:t>
            </a:r>
            <a:r>
              <a:rPr lang="en-US" sz="1600" dirty="0"/>
              <a:t> Activation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84D310-303D-64D1-972A-29087DE80948}"/>
              </a:ext>
            </a:extLst>
          </p:cNvPr>
          <p:cNvSpPr txBox="1"/>
          <p:nvPr/>
        </p:nvSpPr>
        <p:spPr>
          <a:xfrm>
            <a:off x="3982939" y="162046"/>
            <a:ext cx="4391583" cy="5232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bg1"/>
                </a:solidFill>
              </a:rPr>
              <a:t>Our CNN Model Architecture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4780621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561706C-ED71-D295-0A1F-004F5CB5A2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600" b="1" dirty="0"/>
              <a:t>Baseline Model </a:t>
            </a:r>
            <a:r>
              <a:rPr lang="en-US" sz="1600" dirty="0"/>
              <a:t>– FRAGILE</a:t>
            </a:r>
          </a:p>
          <a:p>
            <a:pPr lvl="1"/>
            <a:r>
              <a:rPr lang="en-US" sz="1600" dirty="0"/>
              <a:t>Misclassifies the adversarial image</a:t>
            </a:r>
          </a:p>
          <a:p>
            <a:pPr lvl="1"/>
            <a:endParaRPr lang="en-US" sz="1600" dirty="0"/>
          </a:p>
          <a:p>
            <a:r>
              <a:rPr lang="en-US" sz="1600" b="1" dirty="0"/>
              <a:t>Detection Model </a:t>
            </a:r>
            <a:r>
              <a:rPr lang="en-US" sz="1600" dirty="0"/>
              <a:t>- Successful</a:t>
            </a:r>
          </a:p>
          <a:p>
            <a:pPr lvl="1"/>
            <a:r>
              <a:rPr lang="en-US" sz="1600" dirty="0"/>
              <a:t>Flagged the adversarial image correctly as ‘Adversarial’</a:t>
            </a:r>
          </a:p>
          <a:p>
            <a:pPr lvl="1"/>
            <a:endParaRPr lang="en-US" sz="1600" dirty="0"/>
          </a:p>
          <a:p>
            <a:r>
              <a:rPr lang="en-US" sz="1600" b="1" dirty="0"/>
              <a:t>Mitigation Model </a:t>
            </a:r>
            <a:r>
              <a:rPr lang="en-US" sz="1600" dirty="0"/>
              <a:t>– Fairly Successful</a:t>
            </a:r>
          </a:p>
          <a:p>
            <a:pPr lvl="1"/>
            <a:r>
              <a:rPr lang="en-US" sz="1600" dirty="0"/>
              <a:t>Correctly classifies the adversarial images for most samples</a:t>
            </a:r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57A7C7-068D-F9F5-2ADC-ABDC5ECE9E71}"/>
              </a:ext>
            </a:extLst>
          </p:cNvPr>
          <p:cNvSpPr txBox="1"/>
          <p:nvPr/>
        </p:nvSpPr>
        <p:spPr>
          <a:xfrm>
            <a:off x="4602500" y="243069"/>
            <a:ext cx="3152462" cy="5232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Testing Observations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D0B67C-8229-8DAE-EA1F-5DBA44525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4505597"/>
            <a:ext cx="5321300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47715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D9EE571-D26D-D795-14FD-3FEC04C1AA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Improving the accuracy of the mitigation model by adjusting training hyperparameters</a:t>
            </a:r>
          </a:p>
          <a:p>
            <a:endParaRPr lang="en-US" sz="2000" dirty="0"/>
          </a:p>
          <a:p>
            <a:r>
              <a:rPr lang="en-US" sz="2000" dirty="0"/>
              <a:t>Testing Generalizability against new adversarial attacks</a:t>
            </a:r>
          </a:p>
          <a:p>
            <a:pPr lvl="1"/>
            <a:r>
              <a:rPr lang="en-US" sz="2000" dirty="0"/>
              <a:t>Current model is specifically trained to defeat only PGD attack</a:t>
            </a:r>
          </a:p>
          <a:p>
            <a:pPr lvl="1"/>
            <a:endParaRPr lang="en-US" sz="2000" dirty="0"/>
          </a:p>
          <a:p>
            <a:r>
              <a:rPr lang="en-US" sz="2000" dirty="0"/>
              <a:t>More Complex Dataset</a:t>
            </a:r>
          </a:p>
          <a:p>
            <a:pPr lvl="1"/>
            <a:r>
              <a:rPr lang="en-US" sz="2000" dirty="0"/>
              <a:t>Expand beyond MNIST dataset with </a:t>
            </a:r>
            <a:r>
              <a:rPr lang="en-US" sz="2000" dirty="0" err="1"/>
              <a:t>colour</a:t>
            </a:r>
            <a:r>
              <a:rPr lang="en-US" sz="2000" dirty="0"/>
              <a:t> datasets like CIFAR-10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8FD215-58B5-6D34-26B9-AE9307CFC350}"/>
              </a:ext>
            </a:extLst>
          </p:cNvPr>
          <p:cNvSpPr txBox="1"/>
          <p:nvPr/>
        </p:nvSpPr>
        <p:spPr>
          <a:xfrm>
            <a:off x="5088835" y="185195"/>
            <a:ext cx="2014330" cy="5232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Future Scope</a:t>
            </a:r>
          </a:p>
        </p:txBody>
      </p:sp>
    </p:spTree>
    <p:extLst>
      <p:ext uri="{BB962C8B-B14F-4D97-AF65-F5344CB8AC3E}">
        <p14:creationId xmlns:p14="http://schemas.microsoft.com/office/powerpoint/2010/main" val="209102667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688D130-25DC-A73E-14A0-F79AA7ACEE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2000" dirty="0"/>
              <a:t>Publications	</a:t>
            </a:r>
          </a:p>
          <a:p>
            <a:pPr lvl="1"/>
            <a:r>
              <a:rPr lang="en-IN" sz="2000" dirty="0" err="1"/>
              <a:t>Waghela</a:t>
            </a:r>
            <a:r>
              <a:rPr lang="en-IN" sz="2000" dirty="0"/>
              <a:t> H, Sen J, Rakshit S, “</a:t>
            </a:r>
            <a:r>
              <a:rPr lang="en-IN" sz="2000" b="1" dirty="0"/>
              <a:t>Robust Image Classification: Defensive Strategies against FGSM and PGD Adversarial Attacks</a:t>
            </a:r>
            <a:r>
              <a:rPr lang="en-IN" sz="2000" dirty="0"/>
              <a:t>”, IEEE, August, 2024.</a:t>
            </a:r>
          </a:p>
          <a:p>
            <a:pPr lvl="1"/>
            <a:r>
              <a:rPr lang="en-IN" sz="2000" dirty="0"/>
              <a:t>Villegas-Ch W, Jaramillo-</a:t>
            </a:r>
            <a:r>
              <a:rPr lang="en-IN" sz="2000" dirty="0" err="1"/>
              <a:t>Alcázar</a:t>
            </a:r>
            <a:r>
              <a:rPr lang="en-IN" sz="2000" dirty="0"/>
              <a:t> A, </a:t>
            </a:r>
            <a:r>
              <a:rPr lang="en-IN" sz="2000" dirty="0" err="1"/>
              <a:t>Luján</a:t>
            </a:r>
            <a:r>
              <a:rPr lang="en-IN" sz="2000" dirty="0"/>
              <a:t>-Mora S, “</a:t>
            </a:r>
            <a:r>
              <a:rPr lang="en-IN" sz="2000" b="1" dirty="0"/>
              <a:t>Evaluating the Robustness of Deep Learning Models Against Adversarial Attacks: An Analysis with FGSM, PGD and CW</a:t>
            </a:r>
            <a:r>
              <a:rPr lang="en-IN" sz="2000" dirty="0"/>
              <a:t>” Big Data and Cognitive Computing, MDPI, Basel, January, 2024</a:t>
            </a:r>
          </a:p>
          <a:p>
            <a:pPr lvl="1"/>
            <a:r>
              <a:rPr lang="en-IN" sz="2000" dirty="0"/>
              <a:t>Wang Y, Sun T, Li S, Yuan X, Ni W, Hossain E, Poor HV, “</a:t>
            </a:r>
            <a:r>
              <a:rPr lang="en-IN" sz="2000" b="1" dirty="0"/>
              <a:t>Adversarial Attacks and </a:t>
            </a:r>
            <a:r>
              <a:rPr lang="en-IN" sz="2000" b="1" dirty="0" err="1"/>
              <a:t>Defenses</a:t>
            </a:r>
            <a:r>
              <a:rPr lang="en-IN" sz="2000" b="1" dirty="0"/>
              <a:t> in Machine Learning-Powered Networks: A Contemporary Survey</a:t>
            </a:r>
            <a:r>
              <a:rPr lang="en-IN" sz="2000" dirty="0"/>
              <a:t>”, March 2023</a:t>
            </a:r>
          </a:p>
          <a:p>
            <a:r>
              <a:rPr lang="en-IN" sz="2000" dirty="0"/>
              <a:t>Code and Data Sources</a:t>
            </a:r>
          </a:p>
          <a:p>
            <a:pPr lvl="1"/>
            <a:r>
              <a:rPr lang="en-IN" sz="2000" b="1" dirty="0"/>
              <a:t>Adversarial Robust Toolkit</a:t>
            </a:r>
            <a:r>
              <a:rPr lang="en-IN" sz="2000" dirty="0"/>
              <a:t>. Retrieved from https://</a:t>
            </a:r>
            <a:r>
              <a:rPr lang="en-IN" sz="2000" dirty="0" err="1"/>
              <a:t>github.com</a:t>
            </a:r>
            <a:r>
              <a:rPr lang="en-IN" sz="2000" dirty="0"/>
              <a:t>/Trusted-AI/adversarial-robustness-toolbox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15D7DC-3D12-75F4-8D69-04795357EDCA}"/>
              </a:ext>
            </a:extLst>
          </p:cNvPr>
          <p:cNvSpPr txBox="1"/>
          <p:nvPr/>
        </p:nvSpPr>
        <p:spPr>
          <a:xfrm>
            <a:off x="5237914" y="127321"/>
            <a:ext cx="1716171" cy="5232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bg1"/>
                </a:solidFill>
              </a:rPr>
              <a:t>References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5007391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22011103017_22011103026_Capstone_Presentation" id="{963C62CE-5916-6A46-984B-DC468A433256}" vid="{2971EBAC-09A3-CF42-AA5B-49E00773EDCF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2328</TotalTime>
  <Words>643</Words>
  <Application>Microsoft Macintosh PowerPoint</Application>
  <PresentationFormat>Widescreen</PresentationFormat>
  <Paragraphs>84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Harish Senthilkumaran Dharani</dc:creator>
  <cp:lastModifiedBy>M K Lokesh Kumar</cp:lastModifiedBy>
  <cp:revision>7</cp:revision>
  <dcterms:created xsi:type="dcterms:W3CDTF">2025-09-21T17:50:43Z</dcterms:created>
  <dcterms:modified xsi:type="dcterms:W3CDTF">2025-09-24T08:42:43Z</dcterms:modified>
</cp:coreProperties>
</file>