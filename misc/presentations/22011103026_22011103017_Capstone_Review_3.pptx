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63" r:id="rId4"/>
    <p:sldId id="272" r:id="rId5"/>
    <p:sldId id="275" r:id="rId6"/>
    <p:sldId id="273" r:id="rId7"/>
    <p:sldId id="274" r:id="rId8"/>
    <p:sldId id="276" r:id="rId9"/>
    <p:sldId id="278" r:id="rId10"/>
    <p:sldId id="277" r:id="rId11"/>
    <p:sldId id="27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58"/>
    <p:restoredTop sz="94681"/>
  </p:normalViewPr>
  <p:slideViewPr>
    <p:cSldViewPr snapToGrid="0">
      <p:cViewPr varScale="1">
        <p:scale>
          <a:sx n="26" d="100"/>
          <a:sy n="26" d="100"/>
        </p:scale>
        <p:origin x="200" y="2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4;p13"/>
          <p:cNvSpPr/>
          <p:nvPr/>
        </p:nvSpPr>
        <p:spPr>
          <a:xfrm>
            <a:off x="357900" y="569000"/>
            <a:ext cx="11476202" cy="1368301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 w="12700">
            <a:miter lim="400000"/>
          </a:ln>
          <a:effectLst>
            <a:outerShdw blurRad="63500" dist="114300" dir="2700000" rotWithShape="0">
              <a:srgbClr val="000000">
                <a:alpha val="30000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4" name="Google Shape;56;p13"/>
          <p:cNvSpPr txBox="1"/>
          <p:nvPr/>
        </p:nvSpPr>
        <p:spPr>
          <a:xfrm>
            <a:off x="492033" y="718401"/>
            <a:ext cx="11207933" cy="53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t> </a:t>
            </a:r>
          </a:p>
        </p:txBody>
      </p:sp>
      <p:pic>
        <p:nvPicPr>
          <p:cNvPr id="15" name="Google Shape;55;p13" descr="Google Shape;55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0" y="5905896"/>
            <a:ext cx="11476199" cy="76620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496388" y="1018903"/>
            <a:ext cx="11364686" cy="467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" name="Google Shape;64;p14" descr="Google Shape;64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8" y="5734594"/>
            <a:ext cx="11364687" cy="8436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oogle Shape;63;p14"/>
          <p:cNvSpPr/>
          <p:nvPr/>
        </p:nvSpPr>
        <p:spPr>
          <a:xfrm>
            <a:off x="74" y="-28227"/>
            <a:ext cx="12191925" cy="800218"/>
          </a:xfrm>
          <a:prstGeom prst="rect">
            <a:avLst/>
          </a:prstGeom>
          <a:solidFill>
            <a:srgbClr val="3352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46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38" marR="0" indent="-320038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8;p13"/>
          <p:cNvSpPr txBox="1"/>
          <p:nvPr/>
        </p:nvSpPr>
        <p:spPr>
          <a:xfrm>
            <a:off x="3150499" y="4256609"/>
            <a:ext cx="5917503" cy="752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lnSpc>
                <a:spcPct val="115000"/>
              </a:lnSpc>
            </a:pPr>
            <a:r>
              <a:t>Dr. Dhivya S</a:t>
            </a:r>
          </a:p>
          <a:p>
            <a:pPr algn="ctr"/>
            <a:r>
              <a:t>Shiv Nadar University Chennai</a:t>
            </a:r>
          </a:p>
        </p:txBody>
      </p:sp>
      <p:sp>
        <p:nvSpPr>
          <p:cNvPr id="34" name="Google Shape;57;p13"/>
          <p:cNvSpPr txBox="1"/>
          <p:nvPr/>
        </p:nvSpPr>
        <p:spPr>
          <a:xfrm>
            <a:off x="3150499" y="2825220"/>
            <a:ext cx="5917503" cy="83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defRPr sz="2200"/>
            </a:pPr>
            <a:r>
              <a:t>Harish Senthilkumaran Dharani - 22011103017</a:t>
            </a:r>
          </a:p>
          <a:p>
            <a:pPr algn="ctr">
              <a:defRPr sz="2200"/>
            </a:pPr>
            <a:r>
              <a:t>M K Lokesh Kumar - 22011103026</a:t>
            </a:r>
          </a:p>
        </p:txBody>
      </p:sp>
      <p:sp>
        <p:nvSpPr>
          <p:cNvPr id="35" name="Google Shape;56;p13"/>
          <p:cNvSpPr txBox="1"/>
          <p:nvPr/>
        </p:nvSpPr>
        <p:spPr>
          <a:xfrm>
            <a:off x="569841" y="776886"/>
            <a:ext cx="11052316" cy="1146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/>
              <a:t>Security By and For Deep Learning Models</a:t>
            </a:r>
            <a:endParaRPr lang="en-US" dirty="0"/>
          </a:p>
          <a:p>
            <a:r>
              <a:rPr lang="en-IN" i="1" dirty="0"/>
              <a:t>Capstone Project Review 2</a:t>
            </a:r>
            <a:endParaRPr i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703E18-ABFC-B3AB-F0F5-03970F1B1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Why we moved on from MNIST to CIFAR-10?</a:t>
            </a:r>
          </a:p>
          <a:p>
            <a:pPr lvl="1"/>
            <a:r>
              <a:rPr lang="en-US" sz="1800" dirty="0"/>
              <a:t>MNIST is simple, grayscale digits and not complex real-world images</a:t>
            </a:r>
          </a:p>
          <a:p>
            <a:pPr lvl="1"/>
            <a:r>
              <a:rPr lang="en-US" sz="1800" dirty="0"/>
              <a:t>CIFAR-10 is more realistic (32x32 </a:t>
            </a:r>
            <a:r>
              <a:rPr lang="en-US" sz="1800" dirty="0" err="1"/>
              <a:t>colour</a:t>
            </a:r>
            <a:r>
              <a:rPr lang="en-US" sz="1800" dirty="0"/>
              <a:t> images)</a:t>
            </a:r>
          </a:p>
          <a:p>
            <a:pPr lvl="1"/>
            <a:r>
              <a:rPr lang="en-US" sz="1800" dirty="0"/>
              <a:t>To test if our defense method generalizes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1800" dirty="0"/>
              <a:t>Why we chose ResNet-18?</a:t>
            </a:r>
          </a:p>
          <a:p>
            <a:pPr lvl="1"/>
            <a:r>
              <a:rPr lang="en-US" sz="1800" dirty="0"/>
              <a:t>Powerful standard model</a:t>
            </a:r>
          </a:p>
          <a:p>
            <a:pPr lvl="1"/>
            <a:r>
              <a:rPr lang="en-US" sz="1800" dirty="0"/>
              <a:t>Capable of handling complex features better than CNN</a:t>
            </a:r>
          </a:p>
          <a:p>
            <a:pPr lvl="1"/>
            <a:r>
              <a:rPr lang="en-US" sz="1800" dirty="0"/>
              <a:t>Stronger baseline which is needed to properly test against attacks with our proposed 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16818-507F-375D-AEF6-E490E5FA0C9B}"/>
              </a:ext>
            </a:extLst>
          </p:cNvPr>
          <p:cNvSpPr txBox="1"/>
          <p:nvPr/>
        </p:nvSpPr>
        <p:spPr>
          <a:xfrm>
            <a:off x="4501661" y="164122"/>
            <a:ext cx="3188677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MOVING FORWARD</a:t>
            </a:r>
          </a:p>
        </p:txBody>
      </p:sp>
    </p:spTree>
    <p:extLst>
      <p:ext uri="{BB962C8B-B14F-4D97-AF65-F5344CB8AC3E}">
        <p14:creationId xmlns:p14="http://schemas.microsoft.com/office/powerpoint/2010/main" val="19905888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9"/>
          <p:cNvSpPr txBox="1"/>
          <p:nvPr/>
        </p:nvSpPr>
        <p:spPr>
          <a:xfrm>
            <a:off x="3091860" y="115011"/>
            <a:ext cx="6008280" cy="55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15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rPr lang="en-US" sz="2800" dirty="0"/>
              <a:t>ARCHITECTURE OVERVIEW</a:t>
            </a:r>
            <a:endParaRPr sz="2800" dirty="0"/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094D9299-7882-879E-20F4-F50594910513}"/>
              </a:ext>
            </a:extLst>
          </p:cNvPr>
          <p:cNvSpPr txBox="1"/>
          <p:nvPr/>
        </p:nvSpPr>
        <p:spPr>
          <a:xfrm>
            <a:off x="2164180" y="0"/>
            <a:ext cx="7319789" cy="65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endParaRPr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3B29C-02FC-4E2D-ECB8-8C2A1E9C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74" y="1078523"/>
            <a:ext cx="11530052" cy="470095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8EF266-708A-B0C4-3BC3-FB6F90B8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88" y="1018902"/>
            <a:ext cx="11364686" cy="5276389"/>
          </a:xfrm>
        </p:spPr>
        <p:txBody>
          <a:bodyPr>
            <a:noAutofit/>
          </a:bodyPr>
          <a:lstStyle/>
          <a:p>
            <a:r>
              <a:rPr lang="en-US" sz="1600" b="1" dirty="0"/>
              <a:t>Input Layer: </a:t>
            </a:r>
            <a:r>
              <a:rPr lang="en-US" sz="1600" dirty="0"/>
              <a:t>3 x 32 x 32 </a:t>
            </a:r>
            <a:r>
              <a:rPr lang="en-US" sz="1600" dirty="0" err="1"/>
              <a:t>Colour</a:t>
            </a:r>
            <a:r>
              <a:rPr lang="en-US" sz="1600" dirty="0"/>
              <a:t> Images</a:t>
            </a:r>
          </a:p>
          <a:p>
            <a:r>
              <a:rPr lang="en-US" sz="1600" b="1" dirty="0"/>
              <a:t>Initial Convolutional Layer: </a:t>
            </a:r>
            <a:r>
              <a:rPr lang="en-US" sz="1600" dirty="0"/>
              <a:t>3 channel -&gt; 64 channel with a Stride = 1 + Batch Normalization + </a:t>
            </a:r>
            <a:r>
              <a:rPr lang="en-US" sz="1600" dirty="0" err="1"/>
              <a:t>ReLU</a:t>
            </a:r>
            <a:endParaRPr lang="en-US" sz="1600" dirty="0"/>
          </a:p>
          <a:p>
            <a:r>
              <a:rPr lang="en-US" sz="1600" b="1" dirty="0"/>
              <a:t>Residual Stage 1: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64 channels -&gt; 64 channels and Uses Skip Connections</a:t>
            </a:r>
          </a:p>
          <a:p>
            <a:r>
              <a:rPr lang="en-US" sz="1600" b="1" dirty="0"/>
              <a:t>Residual Stage 2: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64 channels -&gt; 128 channels and Stride = 2</a:t>
            </a:r>
          </a:p>
          <a:p>
            <a:r>
              <a:rPr lang="en-US" sz="1600" b="1" dirty="0"/>
              <a:t>Residual Stage 3: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128 channels -&gt; 256 channels and Stride = 2</a:t>
            </a:r>
          </a:p>
          <a:p>
            <a:r>
              <a:rPr lang="en-US" sz="1600" b="1" dirty="0"/>
              <a:t>Residual Stage 4: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256 channels -&gt; 512 channels and Stride = 2</a:t>
            </a:r>
          </a:p>
          <a:p>
            <a:r>
              <a:rPr lang="en-US" sz="1600" b="1" dirty="0"/>
              <a:t>Pooling: </a:t>
            </a:r>
            <a:r>
              <a:rPr lang="en-IN" sz="1600" dirty="0"/>
              <a:t>Averages each 4x4 feature map down to a single 1x1 value</a:t>
            </a:r>
            <a:endParaRPr lang="en-US" sz="1600" b="1" dirty="0"/>
          </a:p>
          <a:p>
            <a:r>
              <a:rPr lang="en-US" sz="1600" b="1" dirty="0"/>
              <a:t>Flattening Layer</a:t>
            </a:r>
          </a:p>
          <a:p>
            <a:r>
              <a:rPr lang="en-US" sz="1600" b="1" dirty="0"/>
              <a:t>Final Layer</a:t>
            </a:r>
          </a:p>
          <a:p>
            <a:pPr lvl="1"/>
            <a:r>
              <a:rPr lang="en-IN" sz="1600" dirty="0"/>
              <a:t>Baseline/Mitigation – 10 Output Neurons</a:t>
            </a:r>
          </a:p>
          <a:p>
            <a:pPr lvl="1"/>
            <a:r>
              <a:rPr lang="en-IN" sz="1600" dirty="0"/>
              <a:t>Detection – 2 Output Neurons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2122B-7EA3-2015-7B67-5581E39EE56A}"/>
              </a:ext>
            </a:extLst>
          </p:cNvPr>
          <p:cNvSpPr txBox="1"/>
          <p:nvPr/>
        </p:nvSpPr>
        <p:spPr>
          <a:xfrm>
            <a:off x="4141637" y="152400"/>
            <a:ext cx="4819585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OUR RESNET-18 ARCHITECTURE </a:t>
            </a:r>
          </a:p>
        </p:txBody>
      </p:sp>
    </p:spTree>
    <p:extLst>
      <p:ext uri="{BB962C8B-B14F-4D97-AF65-F5344CB8AC3E}">
        <p14:creationId xmlns:p14="http://schemas.microsoft.com/office/powerpoint/2010/main" val="420840618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7613-CFF7-5A59-D9E5-4EA39389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3C740F-0626-7B9B-C55C-4A6F9ECC2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Trained the Mitigation Model on the CIFAR-10 images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dirty="0"/>
              <a:t>MART + AWP </a:t>
            </a:r>
            <a:r>
              <a:rPr lang="en-US" sz="1800" dirty="0"/>
              <a:t>training offered a greater accuracy on adversarial samples, although it compromised on the balance between clean and robust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F1C91-C3B8-5118-AEE3-BFE43171EADA}"/>
              </a:ext>
            </a:extLst>
          </p:cNvPr>
          <p:cNvSpPr txBox="1"/>
          <p:nvPr/>
        </p:nvSpPr>
        <p:spPr>
          <a:xfrm flipH="1">
            <a:off x="2484595" y="122037"/>
            <a:ext cx="7222809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THE MITIGATION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83704C-AA38-E9FA-99F9-A24385523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559316"/>
              </p:ext>
            </p:extLst>
          </p:nvPr>
        </p:nvGraphicFramePr>
        <p:xfrm>
          <a:off x="1586961" y="1822227"/>
          <a:ext cx="9018075" cy="277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6025">
                  <a:extLst>
                    <a:ext uri="{9D8B030D-6E8A-4147-A177-3AD203B41FA5}">
                      <a16:colId xmlns:a16="http://schemas.microsoft.com/office/drawing/2014/main" val="4108680300"/>
                    </a:ext>
                  </a:extLst>
                </a:gridCol>
                <a:gridCol w="3006025">
                  <a:extLst>
                    <a:ext uri="{9D8B030D-6E8A-4147-A177-3AD203B41FA5}">
                      <a16:colId xmlns:a16="http://schemas.microsoft.com/office/drawing/2014/main" val="4089195725"/>
                    </a:ext>
                  </a:extLst>
                </a:gridCol>
                <a:gridCol w="3006025">
                  <a:extLst>
                    <a:ext uri="{9D8B030D-6E8A-4147-A177-3AD203B41FA5}">
                      <a16:colId xmlns:a16="http://schemas.microsoft.com/office/drawing/2014/main" val="1629639429"/>
                    </a:ext>
                  </a:extLst>
                </a:gridCol>
              </a:tblGrid>
              <a:tr h="5331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Method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Clean Accuracy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PGD-20 Robust Accuracy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024106"/>
                  </a:ext>
                </a:extLst>
              </a:tr>
              <a:tr h="5331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Adversarial Training (ART)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643524"/>
                  </a:ext>
                </a:extLst>
              </a:tr>
              <a:tr h="5331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429887"/>
                  </a:ext>
                </a:extLst>
              </a:tr>
              <a:tr h="5331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243600"/>
                  </a:ext>
                </a:extLst>
              </a:tr>
              <a:tr h="5331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 + 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55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870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D93900-A2E6-03DF-9AF1-A2BF1D6FC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Used a </a:t>
            </a:r>
            <a:r>
              <a:rPr lang="en-US" sz="1800" b="1" dirty="0"/>
              <a:t>Denoising Diffusion Probabilistic Model (DDPM) </a:t>
            </a:r>
            <a:r>
              <a:rPr lang="en-US" sz="1800" dirty="0"/>
              <a:t>trained specifically on CIFAR-10 images</a:t>
            </a:r>
          </a:p>
          <a:p>
            <a:r>
              <a:rPr lang="en-US" sz="1800" dirty="0"/>
              <a:t>Uses </a:t>
            </a:r>
            <a:r>
              <a:rPr lang="en-US" sz="1800" b="1" dirty="0"/>
              <a:t>Exponential Moving Average (EMA) </a:t>
            </a:r>
            <a:r>
              <a:rPr lang="en-US" sz="1800" dirty="0"/>
              <a:t>weights for more stable reconstruction</a:t>
            </a:r>
          </a:p>
          <a:p>
            <a:pPr lvl="1"/>
            <a:r>
              <a:rPr lang="en-US" sz="1800" dirty="0"/>
              <a:t>Chosen due to its lightweight size and strong denoising quality for natural images</a:t>
            </a:r>
          </a:p>
          <a:p>
            <a:endParaRPr lang="en-US" sz="1800" dirty="0"/>
          </a:p>
          <a:p>
            <a:r>
              <a:rPr lang="en-US" sz="1800" dirty="0"/>
              <a:t>Generate and Restore images through 2-way noise process</a:t>
            </a:r>
          </a:p>
          <a:p>
            <a:pPr lvl="1"/>
            <a:r>
              <a:rPr lang="en-US" sz="1800" b="1" dirty="0"/>
              <a:t>Forward Process </a:t>
            </a:r>
            <a:r>
              <a:rPr lang="en-US" sz="1800" dirty="0"/>
              <a:t>– Gradually add Gaussian Noise to clean images at timestamps till they become pure noise</a:t>
            </a:r>
          </a:p>
          <a:p>
            <a:pPr lvl="1"/>
            <a:r>
              <a:rPr lang="en-US" sz="1800" b="1" dirty="0"/>
              <a:t>Reverse Process </a:t>
            </a:r>
            <a:r>
              <a:rPr lang="en-US" sz="1800" dirty="0"/>
              <a:t>– Learns to remove noise step-by-step by reconstructing clean image from noisy</a:t>
            </a:r>
          </a:p>
          <a:p>
            <a:pPr lvl="1"/>
            <a:r>
              <a:rPr lang="en-US" sz="1800" dirty="0"/>
              <a:t>Learns structure of natural images and what the “real data” looks like</a:t>
            </a:r>
          </a:p>
          <a:p>
            <a:endParaRPr lang="en-US" sz="1800" dirty="0"/>
          </a:p>
          <a:p>
            <a:r>
              <a:rPr lang="en-US" sz="1800" dirty="0"/>
              <a:t>Uses this knowledge to denoise or purify corrupted images and revert back to clean data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C2FF1-FDED-84E6-1308-91D4A27DBFEE}"/>
              </a:ext>
            </a:extLst>
          </p:cNvPr>
          <p:cNvSpPr txBox="1"/>
          <p:nvPr/>
        </p:nvSpPr>
        <p:spPr>
          <a:xfrm flipH="1">
            <a:off x="2484595" y="122037"/>
            <a:ext cx="7222809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USING A DIFFUSION MODEL FOR PURIFICATION</a:t>
            </a:r>
          </a:p>
        </p:txBody>
      </p:sp>
    </p:spTree>
    <p:extLst>
      <p:ext uri="{BB962C8B-B14F-4D97-AF65-F5344CB8AC3E}">
        <p14:creationId xmlns:p14="http://schemas.microsoft.com/office/powerpoint/2010/main" val="21195984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7DA06-A983-D0B6-0D43-BA0545DA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Diffusion Models are trained to remove Gaussian Noise, not Adversarial Perturbations</a:t>
            </a:r>
          </a:p>
          <a:p>
            <a:r>
              <a:rPr lang="en-US" sz="1600" b="1" dirty="0"/>
              <a:t>Forward</a:t>
            </a:r>
            <a:r>
              <a:rPr lang="en-US" sz="1600" dirty="0"/>
              <a:t> </a:t>
            </a:r>
            <a:r>
              <a:rPr lang="en-US" sz="1600" b="1" dirty="0"/>
              <a:t>Pass</a:t>
            </a:r>
          </a:p>
          <a:p>
            <a:pPr lvl="1"/>
            <a:r>
              <a:rPr lang="en-US" sz="1600" dirty="0"/>
              <a:t>Add controlled amount of Gaussian Noise to ”trump” the adversarial noise</a:t>
            </a:r>
          </a:p>
          <a:p>
            <a:pPr lvl="1"/>
            <a:r>
              <a:rPr lang="en-US" sz="1600" dirty="0"/>
              <a:t>Model now knows how to remove the noise as it is no longer small perturbations</a:t>
            </a:r>
          </a:p>
          <a:p>
            <a:r>
              <a:rPr lang="en-US" sz="1600" b="1" dirty="0"/>
              <a:t>Backward</a:t>
            </a:r>
            <a:r>
              <a:rPr lang="en-US" sz="1600" dirty="0"/>
              <a:t> </a:t>
            </a:r>
            <a:r>
              <a:rPr lang="en-US" sz="1600" b="1" dirty="0"/>
              <a:t>Pass</a:t>
            </a:r>
          </a:p>
          <a:p>
            <a:pPr lvl="1"/>
            <a:r>
              <a:rPr lang="en-US" sz="1600" dirty="0"/>
              <a:t>Reverse Diffusion Process gradually removes the noise and restores to a clean image</a:t>
            </a:r>
          </a:p>
          <a:p>
            <a:endParaRPr lang="en-US" sz="1600" dirty="0"/>
          </a:p>
          <a:p>
            <a:r>
              <a:rPr lang="en-US" sz="1600" dirty="0"/>
              <a:t>Amount of Noise added was controlled using PURIFICATION_TIMESTAMP </a:t>
            </a:r>
            <a:r>
              <a:rPr lang="en-US" sz="1600" b="1" dirty="0"/>
              <a:t>t</a:t>
            </a:r>
          </a:p>
          <a:p>
            <a:pPr lvl="1"/>
            <a:r>
              <a:rPr lang="en-US" sz="1600" dirty="0"/>
              <a:t>Higher the </a:t>
            </a:r>
            <a:r>
              <a:rPr lang="en-US" sz="1600" b="1" dirty="0"/>
              <a:t>t </a:t>
            </a:r>
            <a:r>
              <a:rPr lang="en-US" sz="1600" dirty="0"/>
              <a:t>value, stronger the cleaning process and less detailed the image becomes</a:t>
            </a:r>
          </a:p>
          <a:p>
            <a:endParaRPr lang="en-US" sz="1600" dirty="0"/>
          </a:p>
          <a:p>
            <a:r>
              <a:rPr lang="en-US" sz="1500" b="1" dirty="0"/>
              <a:t>Adversarial Image (Small Perturbation) -&gt; (+) Gaussian Noise -&gt; Noisy Image -&gt; (+) Diffusion Denoise -&gt; Clean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33F2F-9971-34C3-B754-FB67BC17F6B8}"/>
              </a:ext>
            </a:extLst>
          </p:cNvPr>
          <p:cNvSpPr txBox="1"/>
          <p:nvPr/>
        </p:nvSpPr>
        <p:spPr>
          <a:xfrm>
            <a:off x="3530893" y="140677"/>
            <a:ext cx="5295676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THE PURIFICATION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168909376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CDD6-C337-10E5-262E-937E64FE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7116C-DDC2-8498-FCEF-5CB165DD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With both the Purification and the Mitigation models, two purification strategies are performed:</a:t>
            </a:r>
          </a:p>
          <a:p>
            <a:pPr lvl="1"/>
            <a:r>
              <a:rPr lang="en-US" sz="1600" b="1" dirty="0"/>
              <a:t>Single-stage purification</a:t>
            </a:r>
            <a:r>
              <a:rPr lang="en-US" sz="1600" dirty="0"/>
              <a:t>: Applies diffusion-based purification using a single, fixed timestep</a:t>
            </a:r>
          </a:p>
          <a:p>
            <a:pPr lvl="1"/>
            <a:r>
              <a:rPr lang="en-US" sz="1600" b="1" dirty="0"/>
              <a:t>Ensemble purification</a:t>
            </a:r>
            <a:r>
              <a:rPr lang="en-US" sz="1600" dirty="0"/>
              <a:t>: </a:t>
            </a:r>
            <a:r>
              <a:rPr lang="en-IN" sz="1600" dirty="0"/>
              <a:t>Aggregates predictions by averaging the Mitigation model’s logits from multiple diffusion timesteps, effectively combining varied purification strengths into a single, more robust final decision</a:t>
            </a:r>
            <a:endParaRPr lang="en-US" sz="1600" dirty="0"/>
          </a:p>
          <a:p>
            <a:r>
              <a:rPr lang="en-US" sz="1600" dirty="0"/>
              <a:t>Images purified via Ensemble Purification consistently achieve higher classification accuracy when evaluated by the Mitigation model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1D1FB-927E-D5E6-585B-AFDF0F1EA34A}"/>
              </a:ext>
            </a:extLst>
          </p:cNvPr>
          <p:cNvSpPr txBox="1"/>
          <p:nvPr/>
        </p:nvSpPr>
        <p:spPr>
          <a:xfrm>
            <a:off x="1336391" y="140677"/>
            <a:ext cx="9684698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UNITING THE PURIFICATION AND MITIGATION MODELS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93D55-1449-C055-C3C6-08688D244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3254195"/>
            <a:ext cx="6896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533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2FBE-5F31-9766-C909-AF50BBE8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B0D98-E5DF-CFD5-CC71-46AADEA6B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5A88D-CAF9-0C7E-4D6A-DDC3A85B6D33}"/>
              </a:ext>
            </a:extLst>
          </p:cNvPr>
          <p:cNvSpPr txBox="1"/>
          <p:nvPr/>
        </p:nvSpPr>
        <p:spPr>
          <a:xfrm>
            <a:off x="5304625" y="140677"/>
            <a:ext cx="174823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B9B8B-6519-D8C2-ED06-B0A2500F0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421005"/>
              </p:ext>
            </p:extLst>
          </p:nvPr>
        </p:nvGraphicFramePr>
        <p:xfrm>
          <a:off x="1550074" y="2106498"/>
          <a:ext cx="9257314" cy="24985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8657">
                  <a:extLst>
                    <a:ext uri="{9D8B030D-6E8A-4147-A177-3AD203B41FA5}">
                      <a16:colId xmlns:a16="http://schemas.microsoft.com/office/drawing/2014/main" val="4095952472"/>
                    </a:ext>
                  </a:extLst>
                </a:gridCol>
                <a:gridCol w="4628657">
                  <a:extLst>
                    <a:ext uri="{9D8B030D-6E8A-4147-A177-3AD203B41FA5}">
                      <a16:colId xmlns:a16="http://schemas.microsoft.com/office/drawing/2014/main" val="2838464334"/>
                    </a:ext>
                  </a:extLst>
                </a:gridCol>
              </a:tblGrid>
              <a:tr h="677651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on Adversarial Samples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8584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purification + Mitigation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40643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Single-step purification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3381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purification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89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9290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ADD8-C38D-407A-E0CD-678AF195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16B8F1-E201-4C42-743B-A0F34B993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Implement adaptive diffusion purification where timesteps are dynamically adjusted based on model confidence for efficient and robust </a:t>
            </a:r>
            <a:r>
              <a:rPr lang="en-IN" sz="2000" dirty="0" err="1"/>
              <a:t>defense</a:t>
            </a:r>
            <a:r>
              <a:rPr lang="en-IN" sz="2000" dirty="0"/>
              <a:t>.</a:t>
            </a:r>
          </a:p>
          <a:p>
            <a:r>
              <a:rPr lang="en-US" sz="2000" dirty="0"/>
              <a:t>Extend the framework to handle higher-resolution RGB datasets for broader applicability.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36A49-7C47-48CE-7190-0D1C377F9AA0}"/>
              </a:ext>
            </a:extLst>
          </p:cNvPr>
          <p:cNvSpPr txBox="1"/>
          <p:nvPr/>
        </p:nvSpPr>
        <p:spPr>
          <a:xfrm>
            <a:off x="4726734" y="140677"/>
            <a:ext cx="2903997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62682061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88D130-25DC-A73E-14A0-F79AA7ACE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Publications	</a:t>
            </a:r>
          </a:p>
          <a:p>
            <a:pPr lvl="1"/>
            <a:r>
              <a:rPr lang="en-IN" sz="2000" b="1" dirty="0"/>
              <a:t>Nie W, Lin B, </a:t>
            </a:r>
            <a:r>
              <a:rPr lang="en-IN" sz="2000" b="1" dirty="0" err="1"/>
              <a:t>Narodytska</a:t>
            </a:r>
            <a:r>
              <a:rPr lang="en-IN" sz="2000" b="1" dirty="0"/>
              <a:t> N, Patel A, “Purifying Diffusion Models Improves Out-of-Distribution Robustness</a:t>
            </a:r>
            <a:r>
              <a:rPr lang="en-IN" sz="2000" dirty="0"/>
              <a:t>”, arXiv:2205.07460, May 2022.</a:t>
            </a:r>
          </a:p>
          <a:p>
            <a:pPr lvl="1"/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Hongyang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Zhang,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Yaodong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Yu,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Jiantao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Jiao, Eric P. Xing, Laurent El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Ghaoui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Michael I. Jordan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Theoretically Principled Trade-off between Robustness and Accuracy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en-IN" sz="2000" i="0" dirty="0">
                <a:effectLst/>
              </a:rPr>
              <a:t>arXiv:1901.08573, June 2019</a:t>
            </a:r>
          </a:p>
          <a:p>
            <a:pPr lvl="1"/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Yisen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Wang,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Difan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Zou, Jinfeng Yi, James Bailey,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Xingjun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Quanquan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Gu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Improving Adversarial Robustness Requires Revisiting Misclassified Examples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en-IN" sz="2000" i="0" dirty="0">
                <a:effectLst/>
              </a:rPr>
              <a:t>Apr 2024</a:t>
            </a:r>
          </a:p>
          <a:p>
            <a:pPr lvl="1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2000" dirty="0"/>
          </a:p>
          <a:p>
            <a:r>
              <a:rPr lang="en-IN" sz="2000" dirty="0"/>
              <a:t>Code and Data Sources</a:t>
            </a:r>
          </a:p>
          <a:p>
            <a:pPr lvl="1"/>
            <a:r>
              <a:rPr lang="en-IN" sz="2000" b="1" dirty="0"/>
              <a:t>Guided Diffusion Model.</a:t>
            </a:r>
            <a:r>
              <a:rPr lang="en-IN" sz="2000" dirty="0"/>
              <a:t> Retrieved from https://</a:t>
            </a:r>
            <a:r>
              <a:rPr lang="en-IN" sz="2000" dirty="0" err="1"/>
              <a:t>github.com</a:t>
            </a:r>
            <a:r>
              <a:rPr lang="en-IN" sz="2000" dirty="0"/>
              <a:t>/</a:t>
            </a:r>
            <a:r>
              <a:rPr lang="en-IN" sz="2000" dirty="0" err="1"/>
              <a:t>pesser</a:t>
            </a:r>
            <a:r>
              <a:rPr lang="en-IN" sz="2000" dirty="0"/>
              <a:t>/</a:t>
            </a:r>
            <a:r>
              <a:rPr lang="en-IN" sz="2000" dirty="0" err="1"/>
              <a:t>pytorch_diffusion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5D7DC-3D12-75F4-8D69-04795357EDCA}"/>
              </a:ext>
            </a:extLst>
          </p:cNvPr>
          <p:cNvSpPr txBox="1"/>
          <p:nvPr/>
        </p:nvSpPr>
        <p:spPr>
          <a:xfrm>
            <a:off x="5237914" y="127321"/>
            <a:ext cx="171617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References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0739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2011103017_22011103026_Capstone_Presentation" id="{963C62CE-5916-6A46-984B-DC468A433256}" vid="{2971EBAC-09A3-CF42-AA5B-49E00773EDC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3187</TotalTime>
  <Words>767</Words>
  <Application>Microsoft Macintosh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Senthilkumaran Dharani</dc:creator>
  <cp:lastModifiedBy>M K Lokesh Kumar</cp:lastModifiedBy>
  <cp:revision>11</cp:revision>
  <dcterms:created xsi:type="dcterms:W3CDTF">2025-09-21T17:50:43Z</dcterms:created>
  <dcterms:modified xsi:type="dcterms:W3CDTF">2025-11-06T18:21:53Z</dcterms:modified>
</cp:coreProperties>
</file>