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71" r:id="rId3"/>
    <p:sldId id="263" r:id="rId4"/>
    <p:sldId id="281" r:id="rId5"/>
    <p:sldId id="274" r:id="rId6"/>
    <p:sldId id="273" r:id="rId7"/>
    <p:sldId id="276" r:id="rId8"/>
    <p:sldId id="278" r:id="rId9"/>
    <p:sldId id="277" r:id="rId10"/>
    <p:sldId id="270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64"/>
    <p:restoredTop sz="86096"/>
  </p:normalViewPr>
  <p:slideViewPr>
    <p:cSldViewPr snapToGrid="0">
      <p:cViewPr>
        <p:scale>
          <a:sx n="119" d="100"/>
          <a:sy n="119" d="100"/>
        </p:scale>
        <p:origin x="600" y="168"/>
      </p:cViewPr>
      <p:guideLst/>
    </p:cSldViewPr>
  </p:slideViewPr>
  <p:notesTextViewPr>
    <p:cViewPr>
      <p:scale>
        <a:sx n="1" d="1"/>
        <a:sy n="1" d="1"/>
      </p:scale>
      <p:origin x="0" y="-8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" name="Shape 3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Explain a scenario with autonomous vehicle systems</a:t>
            </a:r>
          </a:p>
          <a:p>
            <a:pPr marL="171450" indent="-171450">
              <a:buFontTx/>
              <a:buChar char="-"/>
            </a:pPr>
            <a:r>
              <a:rPr lang="en-US" dirty="0"/>
              <a:t>Explain how the PSNR metric works</a:t>
            </a:r>
          </a:p>
        </p:txBody>
      </p:sp>
    </p:spTree>
    <p:extLst>
      <p:ext uri="{BB962C8B-B14F-4D97-AF65-F5344CB8AC3E}">
        <p14:creationId xmlns:p14="http://schemas.microsoft.com/office/powerpoint/2010/main" val="662374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Emphasize on the importance of layered defense here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065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Explain why U-Net works well here (limited semantic complexity)</a:t>
            </a:r>
          </a:p>
          <a:p>
            <a:pPr marL="171450" indent="-171450">
              <a:buFontTx/>
              <a:buChar char="-"/>
            </a:pPr>
            <a:r>
              <a:rPr lang="en-US" dirty="0"/>
              <a:t>Explain difference between using pre-processed images and those that are attacked-on-the-fly</a:t>
            </a:r>
          </a:p>
          <a:p>
            <a:pPr marL="171450" indent="-171450">
              <a:buFontTx/>
              <a:buChar char="-"/>
            </a:pPr>
            <a:r>
              <a:rPr lang="en-US" dirty="0"/>
              <a:t>Justify the use of CIFAR-10 here</a:t>
            </a:r>
          </a:p>
        </p:txBody>
      </p:sp>
    </p:spTree>
    <p:extLst>
      <p:ext uri="{BB962C8B-B14F-4D97-AF65-F5344CB8AC3E}">
        <p14:creationId xmlns:p14="http://schemas.microsoft.com/office/powerpoint/2010/main" val="1664408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Explain how perturbations are low-frequency and spatially-localized</a:t>
            </a:r>
          </a:p>
          <a:p>
            <a:pPr marL="171450" indent="-171450">
              <a:buFontTx/>
              <a:buChar char="-"/>
            </a:pPr>
            <a:r>
              <a:rPr lang="en-US" dirty="0"/>
              <a:t>Explain how lower computational cost</a:t>
            </a:r>
          </a:p>
          <a:p>
            <a:pPr marL="171450" indent="-171450">
              <a:buFontTx/>
              <a:buChar char="-"/>
            </a:pPr>
            <a:r>
              <a:rPr lang="en-US" dirty="0"/>
              <a:t>Explain how skip connections help here</a:t>
            </a:r>
          </a:p>
          <a:p>
            <a:pPr marL="171450" indent="-171450">
              <a:buFontTx/>
              <a:buChar char="-"/>
            </a:pPr>
            <a:r>
              <a:rPr lang="en-US" dirty="0"/>
              <a:t>Clarify that the result should not be over-generalized</a:t>
            </a:r>
          </a:p>
          <a:p>
            <a:pPr marL="171450" indent="-171450">
              <a:buFontTx/>
              <a:buChar char="-"/>
            </a:pPr>
            <a:r>
              <a:rPr lang="en-US" dirty="0"/>
              <a:t>Transition into motivation for ImageNet</a:t>
            </a:r>
          </a:p>
        </p:txBody>
      </p:sp>
    </p:spTree>
    <p:extLst>
      <p:ext uri="{BB962C8B-B14F-4D97-AF65-F5344CB8AC3E}">
        <p14:creationId xmlns:p14="http://schemas.microsoft.com/office/powerpoint/2010/main" val="88482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Explain single-step vs ensemble purification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EMA</a:t>
            </a:r>
          </a:p>
          <a:p>
            <a:pPr marL="171450" indent="-171450">
              <a:buFontTx/>
              <a:buChar char="-"/>
            </a:pPr>
            <a:r>
              <a:rPr lang="en-US" dirty="0"/>
              <a:t>Forward + backward pass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447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Explain why over-smoothing occurs</a:t>
            </a:r>
          </a:p>
          <a:p>
            <a:pPr marL="171450" indent="-171450">
              <a:buFontTx/>
              <a:buChar char="-"/>
            </a:pPr>
            <a:r>
              <a:rPr lang="en-US" dirty="0"/>
              <a:t>Why didn’t this issue occur with CIFAR-10</a:t>
            </a:r>
          </a:p>
          <a:p>
            <a:pPr marL="171450" indent="-171450">
              <a:buFontTx/>
              <a:buChar char="-"/>
            </a:pPr>
            <a:r>
              <a:rPr lang="en-US" dirty="0"/>
              <a:t>High-res datasets require global coherence across objects</a:t>
            </a:r>
          </a:p>
          <a:p>
            <a:pPr marL="171450" indent="-171450">
              <a:buFontTx/>
              <a:buChar char="-"/>
            </a:pPr>
            <a:r>
              <a:rPr lang="en-US" dirty="0"/>
              <a:t>Accuracy drop is due to representation loss, not attack strength</a:t>
            </a:r>
          </a:p>
          <a:p>
            <a:pPr marL="171450" indent="-171450">
              <a:buFontTx/>
              <a:buChar char="-"/>
            </a:pPr>
            <a:r>
              <a:rPr lang="en-US" dirty="0"/>
              <a:t>“local convolutional inductive-bias”</a:t>
            </a:r>
          </a:p>
          <a:p>
            <a:pPr marL="171450" indent="-171450">
              <a:buFontTx/>
              <a:buChar char="-"/>
            </a:pPr>
            <a:r>
              <a:rPr lang="en-US" dirty="0"/>
              <a:t>“global context modeling”</a:t>
            </a:r>
          </a:p>
        </p:txBody>
      </p:sp>
    </p:spTree>
    <p:extLst>
      <p:ext uri="{BB962C8B-B14F-4D97-AF65-F5344CB8AC3E}">
        <p14:creationId xmlns:p14="http://schemas.microsoft.com/office/powerpoint/2010/main" val="938918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Medical images require “modality-aware training”, not generic natural-image priors</a:t>
            </a:r>
          </a:p>
          <a:p>
            <a:pPr marL="171450" indent="-171450">
              <a:buFontTx/>
              <a:buChar char="-"/>
            </a:pPr>
            <a:r>
              <a:rPr lang="en-US" dirty="0"/>
              <a:t>Anatomy and physics constraints are key advantages over the complex nature of ImageNet</a:t>
            </a:r>
          </a:p>
          <a:p>
            <a:pPr marL="171450" indent="-171450">
              <a:buFontTx/>
              <a:buChar char="-"/>
            </a:pPr>
            <a:r>
              <a:rPr lang="en-US" dirty="0"/>
              <a:t>Hybrid methods could balance both robustness with clinical efficiency</a:t>
            </a:r>
          </a:p>
          <a:p>
            <a:pPr marL="171450" indent="-171450">
              <a:buFontTx/>
              <a:buChar char="-"/>
            </a:pPr>
            <a:r>
              <a:rPr lang="en-US" dirty="0"/>
              <a:t>Path toward deployable adversarial defense in healthcare</a:t>
            </a:r>
          </a:p>
          <a:p>
            <a:pPr marL="171450" indent="-171450">
              <a:buFontTx/>
              <a:buChar char="-"/>
            </a:pPr>
            <a:r>
              <a:rPr lang="en-US" dirty="0"/>
              <a:t>Explain ”feature-space purification” and “confidence-aware denoising”</a:t>
            </a:r>
          </a:p>
          <a:p>
            <a:pPr marL="171450" indent="-171450">
              <a:buFontTx/>
              <a:buChar char="-"/>
            </a:pPr>
            <a:r>
              <a:rPr lang="en-US" dirty="0"/>
              <a:t>Explain how joint training could help</a:t>
            </a:r>
          </a:p>
          <a:p>
            <a:pPr marL="171450" indent="-171450">
              <a:buFontTx/>
              <a:buChar char="-"/>
            </a:pPr>
            <a:r>
              <a:rPr lang="en-US" dirty="0"/>
              <a:t>Explain semantic preservation</a:t>
            </a:r>
          </a:p>
        </p:txBody>
      </p:sp>
    </p:spTree>
    <p:extLst>
      <p:ext uri="{BB962C8B-B14F-4D97-AF65-F5344CB8AC3E}">
        <p14:creationId xmlns:p14="http://schemas.microsoft.com/office/powerpoint/2010/main" val="4231917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54;p13"/>
          <p:cNvSpPr/>
          <p:nvPr/>
        </p:nvSpPr>
        <p:spPr>
          <a:xfrm>
            <a:off x="357900" y="569000"/>
            <a:ext cx="11476202" cy="1368301"/>
          </a:xfrm>
          <a:prstGeom prst="roundRect">
            <a:avLst>
              <a:gd name="adj" fmla="val 9040"/>
            </a:avLst>
          </a:prstGeom>
          <a:solidFill>
            <a:srgbClr val="335295"/>
          </a:solidFill>
          <a:ln w="12700">
            <a:miter lim="400000"/>
          </a:ln>
          <a:effectLst>
            <a:outerShdw blurRad="63500" dist="114300" dir="2700000" rotWithShape="0">
              <a:srgbClr val="000000">
                <a:alpha val="30000"/>
              </a:srgbClr>
            </a:outerShdw>
          </a:effectLst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14" name="Google Shape;56;p13"/>
          <p:cNvSpPr txBox="1"/>
          <p:nvPr/>
        </p:nvSpPr>
        <p:spPr>
          <a:xfrm>
            <a:off x="492033" y="718401"/>
            <a:ext cx="11207933" cy="536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3" tIns="91423" rIns="91423" bIns="91423">
            <a:spAutoFit/>
          </a:bodyPr>
          <a:lstStyle>
            <a:lvl1pPr algn="ctr">
              <a:lnSpc>
                <a:spcPct val="115000"/>
              </a:lnSpc>
              <a:defRPr sz="2800">
                <a:solidFill>
                  <a:srgbClr val="FFFFFF"/>
                </a:solidFill>
              </a:defRPr>
            </a:lvl1pPr>
          </a:lstStyle>
          <a:p>
            <a:r>
              <a:t> </a:t>
            </a:r>
          </a:p>
        </p:txBody>
      </p:sp>
      <p:pic>
        <p:nvPicPr>
          <p:cNvPr id="15" name="Google Shape;55;p13" descr="Google Shape;55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00" y="5905896"/>
            <a:ext cx="11476199" cy="766207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496388" y="1018903"/>
            <a:ext cx="11364686" cy="4673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3" name="Google Shape;64;p14" descr="Google Shape;64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88" y="5734594"/>
            <a:ext cx="11364687" cy="84362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Google Shape;63;p14"/>
          <p:cNvSpPr/>
          <p:nvPr/>
        </p:nvSpPr>
        <p:spPr>
          <a:xfrm>
            <a:off x="74" y="-28227"/>
            <a:ext cx="12191925" cy="800218"/>
          </a:xfrm>
          <a:prstGeom prst="rect">
            <a:avLst/>
          </a:prstGeom>
          <a:solidFill>
            <a:srgbClr val="33529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1826683" y="1371600"/>
            <a:ext cx="9753601" cy="465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/>
          <a:lstStyle/>
          <a:p>
            <a:r>
              <a:t>Title Text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8978" y="6232199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34438" marR="0" indent="-320038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58;p13"/>
          <p:cNvSpPr txBox="1"/>
          <p:nvPr/>
        </p:nvSpPr>
        <p:spPr>
          <a:xfrm>
            <a:off x="3150499" y="4256609"/>
            <a:ext cx="5917503" cy="752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3" tIns="91423" rIns="91423" bIns="91423">
            <a:spAutoFit/>
          </a:bodyPr>
          <a:lstStyle/>
          <a:p>
            <a:pPr algn="ctr">
              <a:lnSpc>
                <a:spcPct val="115000"/>
              </a:lnSpc>
            </a:pPr>
            <a:r>
              <a:t>Dr. Dhivya S</a:t>
            </a:r>
          </a:p>
          <a:p>
            <a:pPr algn="ctr"/>
            <a:r>
              <a:t>Shiv Nadar University Chennai</a:t>
            </a:r>
          </a:p>
        </p:txBody>
      </p:sp>
      <p:sp>
        <p:nvSpPr>
          <p:cNvPr id="34" name="Google Shape;57;p13"/>
          <p:cNvSpPr txBox="1"/>
          <p:nvPr/>
        </p:nvSpPr>
        <p:spPr>
          <a:xfrm>
            <a:off x="3150499" y="2825220"/>
            <a:ext cx="5917503" cy="832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3" tIns="91423" rIns="91423" bIns="91423">
            <a:spAutoFit/>
          </a:bodyPr>
          <a:lstStyle/>
          <a:p>
            <a:pPr algn="ctr">
              <a:defRPr sz="2200"/>
            </a:pPr>
            <a:r>
              <a:t>Harish Senthilkumaran Dharani - 22011103017</a:t>
            </a:r>
          </a:p>
          <a:p>
            <a:pPr algn="ctr">
              <a:defRPr sz="2200"/>
            </a:pPr>
            <a:r>
              <a:t>M K Lokesh Kumar - 22011103026</a:t>
            </a:r>
          </a:p>
        </p:txBody>
      </p:sp>
      <p:sp>
        <p:nvSpPr>
          <p:cNvPr id="35" name="Google Shape;56;p13"/>
          <p:cNvSpPr txBox="1"/>
          <p:nvPr/>
        </p:nvSpPr>
        <p:spPr>
          <a:xfrm>
            <a:off x="569841" y="776886"/>
            <a:ext cx="11052316" cy="1009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3" tIns="91423" rIns="91423" bIns="91423">
            <a:spAutoFit/>
          </a:bodyPr>
          <a:lstStyle>
            <a:lvl1pPr algn="ctr">
              <a:lnSpc>
                <a:spcPct val="115000"/>
              </a:lnSpc>
              <a:defRPr sz="2800">
                <a:solidFill>
                  <a:srgbClr val="FFFFFF"/>
                </a:solidFill>
              </a:defRPr>
            </a:lvl1pPr>
          </a:lstStyle>
          <a:p>
            <a:r>
              <a:rPr lang="en-IN" sz="2400" i="1" dirty="0"/>
              <a:t>Adversarial Attack Detection and Mitigation Framework for Deep Learning Models</a:t>
            </a:r>
          </a:p>
          <a:p>
            <a:r>
              <a:rPr lang="en-IN" sz="2400" i="1" dirty="0"/>
              <a:t>Capstone Project Review 1 – Phase 2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703E18-ABFC-B3AB-F0F5-03970F1B1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Deep learning models achieve high accuracy but are vulnerable to adversarial perturbations – small, human-imperceptible noise that causes misclassification.</a:t>
            </a:r>
          </a:p>
          <a:p>
            <a:r>
              <a:rPr lang="en-US" sz="1800" dirty="0"/>
              <a:t>Such vulnerabilities can be exploited in autonomous systems, medical imaging, and security-critical applications.</a:t>
            </a:r>
          </a:p>
          <a:p>
            <a:r>
              <a:rPr lang="en-US" sz="1800" dirty="0"/>
              <a:t>AIM: To develop a robust framework capable of detecting and mitigating adversarial attacks.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116818-507F-375D-AEF6-E490E5FA0C9B}"/>
              </a:ext>
            </a:extLst>
          </p:cNvPr>
          <p:cNvSpPr txBox="1"/>
          <p:nvPr/>
        </p:nvSpPr>
        <p:spPr>
          <a:xfrm>
            <a:off x="3691307" y="164122"/>
            <a:ext cx="4974848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PROBLEM DEFINITION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ED5167-3A5E-EEF7-B63C-7DA76CD96D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750" y="2962095"/>
            <a:ext cx="50165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58889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9"/>
          <p:cNvSpPr txBox="1"/>
          <p:nvPr/>
        </p:nvSpPr>
        <p:spPr>
          <a:xfrm>
            <a:off x="3091860" y="46150"/>
            <a:ext cx="6008280" cy="48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ct val="115000"/>
              </a:lnSpc>
              <a:defRPr>
                <a:solidFill>
                  <a:srgbClr val="FFFFFF"/>
                </a:solidFill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PIPELINE OVERVIEW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094D9299-7882-879E-20F4-F50594910513}"/>
              </a:ext>
            </a:extLst>
          </p:cNvPr>
          <p:cNvSpPr txBox="1"/>
          <p:nvPr/>
        </p:nvSpPr>
        <p:spPr>
          <a:xfrm>
            <a:off x="2164180" y="0"/>
            <a:ext cx="7319789" cy="65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91423" tIns="91423" rIns="91423" bIns="91423">
            <a:spAutoFit/>
          </a:bodyPr>
          <a:lstStyle>
            <a:lvl1pPr algn="ctr">
              <a:lnSpc>
                <a:spcPct val="115000"/>
              </a:lnSpc>
              <a:defRPr sz="2800">
                <a:solidFill>
                  <a:srgbClr val="FFFFFF"/>
                </a:solidFill>
              </a:defRPr>
            </a:lvl1pPr>
          </a:lstStyle>
          <a:p>
            <a:endParaRPr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7A6653-EF2E-A2B9-7A4E-2E793AD74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8" y="983380"/>
            <a:ext cx="11996764" cy="489123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4D7DE-5586-CBB3-C288-DAB93F491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C941DB-DCF2-1A77-A357-9FF9BFA3B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Trained </a:t>
            </a:r>
            <a:r>
              <a:rPr lang="en-US" sz="1800" b="1" dirty="0" err="1"/>
              <a:t>UNet</a:t>
            </a:r>
            <a:r>
              <a:rPr lang="en-US" sz="1800" b="1" dirty="0"/>
              <a:t>-based image purifier </a:t>
            </a:r>
            <a:r>
              <a:rPr lang="en-US" sz="1800" dirty="0"/>
              <a:t>using PGD adversarial examples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l-GR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ε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8/255, 10 steps</a:t>
            </a:r>
            <a:r>
              <a:rPr lang="el-GR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generated on-the-fly against a fixed </a:t>
            </a:r>
            <a:r>
              <a:rPr lang="en-US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ResNet-18 classifier.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 objective combines pixel-level reconstruction with classifier-guided loss, ensuring purified outputs remain both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visually clean and semantically correct.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Classifier weights are frozen during purifier training, enforcing true purification rather than co-adaptation.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Achieved 93% classification accuracy on adversarial CIFAR-10 samples.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4C39BE-81BC-770D-AB56-2FB934B62CF9}"/>
              </a:ext>
            </a:extLst>
          </p:cNvPr>
          <p:cNvSpPr txBox="1"/>
          <p:nvPr/>
        </p:nvSpPr>
        <p:spPr>
          <a:xfrm>
            <a:off x="2448722" y="110837"/>
            <a:ext cx="7294555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CIFAR-10 </a:t>
            </a:r>
            <a:r>
              <a:rPr kumimoji="0" lang="en-US" sz="24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UNet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-BASED PURIFIER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6614D3-7781-8FFB-4407-0E3191368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599" y="3172287"/>
            <a:ext cx="6176802" cy="266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72546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B7DA06-A983-D0B6-0D43-BA0545DAC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Adversarial perturbations on CIFAR-10 are </a:t>
            </a:r>
            <a:r>
              <a:rPr lang="en-US" sz="1800" b="1" dirty="0"/>
              <a:t>predominantly low-frequency and spatially-localized.</a:t>
            </a:r>
          </a:p>
          <a:p>
            <a:r>
              <a:rPr lang="en-US" sz="1800" dirty="0" err="1"/>
              <a:t>UNet</a:t>
            </a:r>
            <a:r>
              <a:rPr lang="en-US" sz="1800" dirty="0"/>
              <a:t> </a:t>
            </a:r>
            <a:r>
              <a:rPr lang="en-US" sz="1800" b="1" dirty="0"/>
              <a:t>skip connections </a:t>
            </a:r>
            <a:r>
              <a:rPr lang="en-US" sz="1800" dirty="0"/>
              <a:t>preserve class-discriminative features while removing noise.</a:t>
            </a:r>
          </a:p>
          <a:p>
            <a:r>
              <a:rPr lang="en-US" sz="1800" b="1" dirty="0"/>
              <a:t>Single-pass purification</a:t>
            </a:r>
            <a:r>
              <a:rPr lang="en-US" sz="1800" dirty="0"/>
              <a:t> achieves results comparable to iterative diffusion at significantly lower computational cost.</a:t>
            </a:r>
          </a:p>
          <a:p>
            <a:pPr lvl="1"/>
            <a:endParaRPr lang="en-US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833F2F-9971-34C3-B754-FB67BC17F6B8}"/>
              </a:ext>
            </a:extLst>
          </p:cNvPr>
          <p:cNvSpPr txBox="1"/>
          <p:nvPr/>
        </p:nvSpPr>
        <p:spPr>
          <a:xfrm>
            <a:off x="3696811" y="140677"/>
            <a:ext cx="4963855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OBSERVATIONS FROM CIFAR-10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B3F4A0-42E0-3D99-3855-41BDB4E99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6983" y="2826327"/>
            <a:ext cx="6098033" cy="286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09376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D93900-A2E6-03DF-9AF1-A2BF1D6FC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Built using </a:t>
            </a:r>
            <a:r>
              <a:rPr lang="en-US" sz="1800" b="1" dirty="0"/>
              <a:t>Denoising Diffusion Probabilistic Model (DDPM) </a:t>
            </a:r>
            <a:r>
              <a:rPr lang="en-US" sz="1800" dirty="0"/>
              <a:t>trained on ImageNet.</a:t>
            </a:r>
          </a:p>
          <a:p>
            <a:r>
              <a:rPr lang="en-US" sz="1800" b="1" dirty="0"/>
              <a:t>Forward Process</a:t>
            </a:r>
            <a:r>
              <a:rPr lang="en-US" sz="1800" dirty="0"/>
              <a:t>: Gradually adds Gaussian noise and converts adversarial noise to random noise.</a:t>
            </a:r>
          </a:p>
          <a:p>
            <a:r>
              <a:rPr lang="en-US" sz="1800" b="1" dirty="0"/>
              <a:t>Reverse Process: </a:t>
            </a:r>
            <a:r>
              <a:rPr lang="en-US" sz="1800" dirty="0"/>
              <a:t>Denoises step-by-step and reconstructs clean image.</a:t>
            </a:r>
          </a:p>
          <a:p>
            <a:r>
              <a:rPr lang="en-US" sz="1800" b="1" dirty="0"/>
              <a:t>Exponential Moving Average (EMA) </a:t>
            </a:r>
            <a:r>
              <a:rPr lang="en-US" sz="1800" dirty="0"/>
              <a:t>weights stabilize image generation.</a:t>
            </a:r>
          </a:p>
          <a:p>
            <a:r>
              <a:rPr lang="en-US" sz="1800" dirty="0"/>
              <a:t>Controlled using </a:t>
            </a:r>
            <a:r>
              <a:rPr lang="en-US" sz="1800" b="1" dirty="0"/>
              <a:t>Purification Timestep (t) </a:t>
            </a:r>
            <a:r>
              <a:rPr lang="en-US" sz="1800" dirty="0"/>
              <a:t>– higher t = stronger cleaning, lower detail.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Achieved 66% classification accuracy on adversarial CIFAR-10 samples.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2C2FF1-FDED-84E6-1308-91D4A27DBFEE}"/>
              </a:ext>
            </a:extLst>
          </p:cNvPr>
          <p:cNvSpPr txBox="1"/>
          <p:nvPr/>
        </p:nvSpPr>
        <p:spPr>
          <a:xfrm flipH="1">
            <a:off x="2484595" y="122037"/>
            <a:ext cx="7222809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ImageNet DIFFUSION-BASED PURIFICATION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B1FB1D-7FBB-5856-1AD0-7054386E52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568" t="8777"/>
          <a:stretch/>
        </p:blipFill>
        <p:spPr>
          <a:xfrm>
            <a:off x="4847659" y="3841188"/>
            <a:ext cx="2496663" cy="2533581"/>
          </a:xfrm>
          <a:prstGeom prst="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F561D3-FE2E-43FB-E335-F5877D1CED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568" t="3916" b="93549"/>
          <a:stretch/>
        </p:blipFill>
        <p:spPr>
          <a:xfrm>
            <a:off x="4847659" y="3770792"/>
            <a:ext cx="2496680" cy="70396"/>
          </a:xfrm>
          <a:prstGeom prst="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</p:pic>
    </p:spTree>
    <p:extLst>
      <p:ext uri="{BB962C8B-B14F-4D97-AF65-F5344CB8AC3E}">
        <p14:creationId xmlns:p14="http://schemas.microsoft.com/office/powerpoint/2010/main" val="211959846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2CDD6-C337-10E5-262E-937E64FE3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47116C-DDC2-8498-FCEF-5CB165DD7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Same </a:t>
            </a:r>
            <a:r>
              <a:rPr lang="en-US" sz="1800" dirty="0" err="1"/>
              <a:t>UNet</a:t>
            </a:r>
            <a:r>
              <a:rPr lang="en-US" sz="1800" dirty="0"/>
              <a:t>-style purification applied to ImageNet.</a:t>
            </a:r>
          </a:p>
          <a:p>
            <a:r>
              <a:rPr lang="en-US" sz="1800" dirty="0"/>
              <a:t>Purification introduces </a:t>
            </a:r>
            <a:r>
              <a:rPr lang="en-US" sz="1800" b="1" dirty="0"/>
              <a:t>over-smoothing</a:t>
            </a:r>
            <a:r>
              <a:rPr lang="en-US" sz="1800" dirty="0"/>
              <a:t>, removing class discriminative features</a:t>
            </a:r>
          </a:p>
          <a:p>
            <a:r>
              <a:rPr lang="en-US" sz="1800" b="1" dirty="0"/>
              <a:t>Local convolutional inductive-bias</a:t>
            </a:r>
            <a:r>
              <a:rPr lang="en-US" sz="1800" dirty="0"/>
              <a:t> limits global context modeling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Achieved 44% classification accuracy on adversarial ImageNet samples.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1D1FB-927E-D5E6-585B-AFDF0F1EA34A}"/>
              </a:ext>
            </a:extLst>
          </p:cNvPr>
          <p:cNvSpPr txBox="1"/>
          <p:nvPr/>
        </p:nvSpPr>
        <p:spPr>
          <a:xfrm>
            <a:off x="3278443" y="140677"/>
            <a:ext cx="5800623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ImageNet </a:t>
            </a:r>
            <a:r>
              <a:rPr lang="en-US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UNet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-BASED PURIFIER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825331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72FBE-5F31-9766-C909-AF50BBE86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FB0D98-E5DF-CFD5-CC71-46AADEA6B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IN" sz="1600" dirty="0"/>
              <a:t>Diffusion models scale better with data complexity.</a:t>
            </a:r>
          </a:p>
          <a:p>
            <a:r>
              <a:rPr lang="en-IN" sz="1600" dirty="0"/>
              <a:t>U-Net is more effective for low-resolution regimes.</a:t>
            </a:r>
          </a:p>
          <a:p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5A88D-CAF9-0C7E-4D6A-DDC3A85B6D33}"/>
              </a:ext>
            </a:extLst>
          </p:cNvPr>
          <p:cNvSpPr txBox="1"/>
          <p:nvPr/>
        </p:nvSpPr>
        <p:spPr>
          <a:xfrm>
            <a:off x="5304625" y="140677"/>
            <a:ext cx="1748231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1B9B8B-6519-D8C2-ED06-B0A2500F0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583484"/>
              </p:ext>
            </p:extLst>
          </p:nvPr>
        </p:nvGraphicFramePr>
        <p:xfrm>
          <a:off x="1550074" y="1407251"/>
          <a:ext cx="9257313" cy="2768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85771">
                  <a:extLst>
                    <a:ext uri="{9D8B030D-6E8A-4147-A177-3AD203B41FA5}">
                      <a16:colId xmlns:a16="http://schemas.microsoft.com/office/drawing/2014/main" val="4095952472"/>
                    </a:ext>
                  </a:extLst>
                </a:gridCol>
                <a:gridCol w="3085771">
                  <a:extLst>
                    <a:ext uri="{9D8B030D-6E8A-4147-A177-3AD203B41FA5}">
                      <a16:colId xmlns:a16="http://schemas.microsoft.com/office/drawing/2014/main" val="2838464334"/>
                    </a:ext>
                  </a:extLst>
                </a:gridCol>
                <a:gridCol w="3085771">
                  <a:extLst>
                    <a:ext uri="{9D8B030D-6E8A-4147-A177-3AD203B41FA5}">
                      <a16:colId xmlns:a16="http://schemas.microsoft.com/office/drawing/2014/main" val="3284544125"/>
                    </a:ext>
                  </a:extLst>
                </a:gridCol>
              </a:tblGrid>
              <a:tr h="677651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Dataset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Purifier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 on Adversarial Samples</a:t>
                      </a:r>
                    </a:p>
                    <a:p>
                      <a:pPr algn="l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585846"/>
                  </a:ext>
                </a:extLst>
              </a:tr>
              <a:tr h="60695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CIFAR-10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UNet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94%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40643"/>
                  </a:ext>
                </a:extLst>
              </a:tr>
              <a:tr h="60695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Diffusion (Ensemble Purification)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433816"/>
                  </a:ext>
                </a:extLst>
              </a:tr>
              <a:tr h="60695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UNet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489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409290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ADD8-C38D-407A-E0CD-678AF195D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16B8F1-E201-4C42-743B-A0F34B993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Architecture enhancements</a:t>
            </a:r>
          </a:p>
          <a:p>
            <a:pPr lvl="1"/>
            <a:r>
              <a:rPr lang="en-US" sz="2000" b="1" dirty="0"/>
              <a:t>Hybrid </a:t>
            </a:r>
            <a:r>
              <a:rPr lang="en-US" sz="2000" b="1" dirty="0" err="1"/>
              <a:t>UNet</a:t>
            </a:r>
            <a:r>
              <a:rPr lang="en-US" sz="2000" b="1" dirty="0"/>
              <a:t>-diffusion pipelines</a:t>
            </a:r>
            <a:r>
              <a:rPr lang="en-US" sz="2000" dirty="0"/>
              <a:t> for semantic preservation.</a:t>
            </a:r>
          </a:p>
          <a:p>
            <a:r>
              <a:rPr lang="en-US" sz="2000" dirty="0"/>
              <a:t>Domain-specific training</a:t>
            </a:r>
          </a:p>
          <a:p>
            <a:pPr lvl="1"/>
            <a:r>
              <a:rPr lang="en-US" sz="2000" dirty="0"/>
              <a:t>Train purifiers on </a:t>
            </a:r>
            <a:r>
              <a:rPr lang="en-US" sz="2000" b="1" dirty="0"/>
              <a:t>modality-specific distributions </a:t>
            </a:r>
            <a:r>
              <a:rPr lang="en-US" sz="2000" dirty="0"/>
              <a:t>(X-ray, CT).</a:t>
            </a:r>
          </a:p>
          <a:p>
            <a:r>
              <a:rPr lang="en-US" sz="2000" dirty="0"/>
              <a:t>Robustness-oriented objectives</a:t>
            </a:r>
          </a:p>
          <a:p>
            <a:pPr lvl="1"/>
            <a:r>
              <a:rPr lang="en-US" sz="2000" b="1" dirty="0"/>
              <a:t>Feature-space purification </a:t>
            </a:r>
            <a:r>
              <a:rPr lang="en-US" sz="2000" dirty="0"/>
              <a:t>and </a:t>
            </a:r>
            <a:r>
              <a:rPr lang="en-US" sz="2000" b="1" dirty="0"/>
              <a:t>confidence-aware denoising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Joint training with adversarial and realistic noise models.</a:t>
            </a:r>
          </a:p>
          <a:p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E36A49-7C47-48CE-7190-0D1C377F9AA0}"/>
              </a:ext>
            </a:extLst>
          </p:cNvPr>
          <p:cNvSpPr txBox="1"/>
          <p:nvPr/>
        </p:nvSpPr>
        <p:spPr>
          <a:xfrm>
            <a:off x="4247441" y="140677"/>
            <a:ext cx="3862593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FUTURE DIRECTIONS</a:t>
            </a:r>
          </a:p>
        </p:txBody>
      </p:sp>
    </p:spTree>
    <p:extLst>
      <p:ext uri="{BB962C8B-B14F-4D97-AF65-F5344CB8AC3E}">
        <p14:creationId xmlns:p14="http://schemas.microsoft.com/office/powerpoint/2010/main" val="362682061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88D130-25DC-A73E-14A0-F79AA7ACE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Publications</a:t>
            </a:r>
          </a:p>
          <a:p>
            <a:r>
              <a:rPr lang="en-IN" sz="2000" dirty="0"/>
              <a:t>Code and Data Sources</a:t>
            </a:r>
          </a:p>
          <a:p>
            <a:pPr lvl="1"/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5D7DC-3D12-75F4-8D69-04795357EDCA}"/>
              </a:ext>
            </a:extLst>
          </p:cNvPr>
          <p:cNvSpPr txBox="1"/>
          <p:nvPr/>
        </p:nvSpPr>
        <p:spPr>
          <a:xfrm>
            <a:off x="5237914" y="127321"/>
            <a:ext cx="1716171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bg1"/>
                </a:solidFill>
              </a:rPr>
              <a:t>References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007391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22011103017_22011103026_Capstone_Presentation" id="{963C62CE-5916-6A46-984B-DC468A433256}" vid="{2971EBAC-09A3-CF42-AA5B-49E00773EDCF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4212</TotalTime>
  <Words>588</Words>
  <Application>Microsoft Macintosh PowerPoint</Application>
  <PresentationFormat>Widescreen</PresentationFormat>
  <Paragraphs>95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Harish Senthilkumaran Dharani</dc:creator>
  <cp:lastModifiedBy>M K Lokesh Kumar</cp:lastModifiedBy>
  <cp:revision>24</cp:revision>
  <dcterms:created xsi:type="dcterms:W3CDTF">2025-09-21T17:50:43Z</dcterms:created>
  <dcterms:modified xsi:type="dcterms:W3CDTF">2026-01-19T18:33:17Z</dcterms:modified>
</cp:coreProperties>
</file>